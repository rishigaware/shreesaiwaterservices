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73" r:id="rId3"/>
    <p:sldId id="376" r:id="rId4"/>
    <p:sldId id="478" r:id="rId5"/>
    <p:sldId id="485" r:id="rId6"/>
    <p:sldId id="493" r:id="rId7"/>
    <p:sldId id="479" r:id="rId8"/>
    <p:sldId id="482" r:id="rId9"/>
    <p:sldId id="480" r:id="rId10"/>
    <p:sldId id="483" r:id="rId11"/>
    <p:sldId id="488" r:id="rId12"/>
    <p:sldId id="382" r:id="rId13"/>
    <p:sldId id="384" r:id="rId14"/>
    <p:sldId id="385" r:id="rId15"/>
    <p:sldId id="490" r:id="rId16"/>
    <p:sldId id="491" r:id="rId17"/>
    <p:sldId id="489" r:id="rId18"/>
    <p:sldId id="450" r:id="rId19"/>
    <p:sldId id="329" r:id="rId20"/>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103" autoAdjust="0"/>
    <p:restoredTop sz="94671" autoAdjust="0"/>
  </p:normalViewPr>
  <p:slideViewPr>
    <p:cSldViewPr>
      <p:cViewPr varScale="1">
        <p:scale>
          <a:sx n="104" d="100"/>
          <a:sy n="104" d="100"/>
        </p:scale>
        <p:origin x="-954" y="-84"/>
      </p:cViewPr>
      <p:guideLst>
        <p:guide orient="horz" pos="1800"/>
        <p:guide pos="2880"/>
      </p:guideLst>
    </p:cSldViewPr>
  </p:slideViewPr>
  <p:outlineViewPr>
    <p:cViewPr>
      <p:scale>
        <a:sx n="33" d="100"/>
        <a:sy n="33" d="100"/>
      </p:scale>
      <p:origin x="0" y="72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4516D8-5010-4E89-B3FC-75B565B3591E}" type="datetimeFigureOut">
              <a:rPr lang="en-US" smtClean="0"/>
              <a:pPr/>
              <a:t>02-Oct-21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C81B5-1602-4AAD-BE4E-F56FD326C63D}" type="slidenum">
              <a:rPr lang="en-US" smtClean="0"/>
              <a:pPr/>
              <a:t>‹#›</a:t>
            </a:fld>
            <a:endParaRPr lang="en-US"/>
          </a:p>
        </p:txBody>
      </p:sp>
      <p:grpSp>
        <p:nvGrpSpPr>
          <p:cNvPr id="8" name="Group 7"/>
          <p:cNvGrpSpPr/>
          <p:nvPr userDrawn="1"/>
        </p:nvGrpSpPr>
        <p:grpSpPr>
          <a:xfrm>
            <a:off x="8046720" y="0"/>
            <a:ext cx="1097280" cy="1097280"/>
            <a:chOff x="7559040" y="1790699"/>
            <a:chExt cx="1097280" cy="1097280"/>
          </a:xfrm>
        </p:grpSpPr>
        <p:sp>
          <p:nvSpPr>
            <p:cNvPr id="9" name="Right Triangle 8"/>
            <p:cNvSpPr/>
            <p:nvPr/>
          </p:nvSpPr>
          <p:spPr>
            <a:xfrm rot="16200000" flipH="1">
              <a:off x="7559040" y="1790699"/>
              <a:ext cx="1097280" cy="1097280"/>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p:cNvSpPr/>
            <p:nvPr/>
          </p:nvSpPr>
          <p:spPr>
            <a:xfrm rot="16200000" flipH="1">
              <a:off x="7741920" y="1790699"/>
              <a:ext cx="914400" cy="914400"/>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p:cNvSpPr/>
            <p:nvPr/>
          </p:nvSpPr>
          <p:spPr>
            <a:xfrm rot="16200000" flipH="1">
              <a:off x="7924800" y="1790700"/>
              <a:ext cx="731520" cy="731520"/>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p:cNvCxnSpPr/>
          <p:nvPr userDrawn="1"/>
        </p:nvCxnSpPr>
        <p:spPr>
          <a:xfrm>
            <a:off x="0" y="1087968"/>
            <a:ext cx="9144000" cy="0"/>
          </a:xfrm>
          <a:prstGeom prst="line">
            <a:avLst/>
          </a:prstGeom>
          <a:ln w="508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5570948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952500"/>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4516D8-5010-4E89-B3FC-75B565B3591E}" type="datetimeFigureOut">
              <a:rPr lang="en-US" smtClean="0"/>
              <a:pPr/>
              <a:t>02-Oct-21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282232761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4516D8-5010-4E89-B3FC-75B565B3591E}" type="datetimeFigureOut">
              <a:rPr lang="en-US" smtClean="0"/>
              <a:pPr/>
              <a:t>02-Oct-21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288922613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9525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11250"/>
            <a:ext cx="4038600" cy="3143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11250"/>
            <a:ext cx="4038600" cy="31432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F4516D8-5010-4E89-B3FC-75B565B3591E}" type="datetimeFigureOut">
              <a:rPr lang="en-US" smtClean="0"/>
              <a:pPr/>
              <a:t>02-Oct-21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37275390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9525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4516D8-5010-4E89-B3FC-75B565B3591E}" type="datetimeFigureOut">
              <a:rPr lang="en-US" smtClean="0"/>
              <a:pPr/>
              <a:t>02-Oct-21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257251507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9525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F4516D8-5010-4E89-B3FC-75B565B3591E}" type="datetimeFigureOut">
              <a:rPr lang="en-US" smtClean="0"/>
              <a:pPr/>
              <a:t>02-Oct-21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71480141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4516D8-5010-4E89-B3FC-75B565B3591E}" type="datetimeFigureOut">
              <a:rPr lang="en-US" smtClean="0"/>
              <a:pPr/>
              <a:t>02-Oct-21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242820384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27542"/>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4516D8-5010-4E89-B3FC-75B565B3591E}" type="datetimeFigureOut">
              <a:rPr lang="en-US" smtClean="0"/>
              <a:pPr/>
              <a:t>02-Oct-21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9185884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4516D8-5010-4E89-B3FC-75B565B3591E}" type="datetimeFigureOut">
              <a:rPr lang="en-US" smtClean="0"/>
              <a:pPr/>
              <a:t>02-Oct-21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344864358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
            <a:ext cx="8229600" cy="95250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4516D8-5010-4E89-B3FC-75B565B3591E}" type="datetimeFigureOut">
              <a:rPr lang="en-US" smtClean="0"/>
              <a:pPr/>
              <a:t>02-Oct-21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387480762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4064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4064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4516D8-5010-4E89-B3FC-75B565B3591E}" type="datetimeFigureOut">
              <a:rPr lang="en-US" smtClean="0"/>
              <a:pPr/>
              <a:t>02-Oct-21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AC81B5-1602-4AAD-BE4E-F56FD326C63D}" type="slidenum">
              <a:rPr lang="en-US" smtClean="0"/>
              <a:pPr/>
              <a:t>‹#›</a:t>
            </a:fld>
            <a:endParaRPr lang="en-US"/>
          </a:p>
        </p:txBody>
      </p:sp>
    </p:spTree>
    <p:extLst>
      <p:ext uri="{BB962C8B-B14F-4D97-AF65-F5344CB8AC3E}">
        <p14:creationId xmlns:p14="http://schemas.microsoft.com/office/powerpoint/2010/main" xmlns="" val="2567508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14300"/>
            <a:ext cx="8229600" cy="9525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333500"/>
            <a:ext cx="8229600" cy="3771636"/>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5296959"/>
            <a:ext cx="21336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9F4516D8-5010-4E89-B3FC-75B565B3591E}" type="datetimeFigureOut">
              <a:rPr lang="en-US" smtClean="0"/>
              <a:pPr/>
              <a:t>02-Oct-21</a:t>
            </a:fld>
            <a:endParaRPr lang="en-US"/>
          </a:p>
        </p:txBody>
      </p:sp>
      <p:sp>
        <p:nvSpPr>
          <p:cNvPr id="5" name="Footer Placeholder 4"/>
          <p:cNvSpPr>
            <a:spLocks noGrp="1"/>
          </p:cNvSpPr>
          <p:nvPr>
            <p:ph type="ftr" sz="quarter" idx="3"/>
          </p:nvPr>
        </p:nvSpPr>
        <p:spPr>
          <a:xfrm>
            <a:off x="3124200" y="5296959"/>
            <a:ext cx="2895600" cy="3042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5296959"/>
            <a:ext cx="21336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88AC81B5-1602-4AAD-BE4E-F56FD326C63D}" type="slidenum">
              <a:rPr lang="en-US" smtClean="0"/>
              <a:pPr/>
              <a:t>‹#›</a:t>
            </a:fld>
            <a:endParaRPr lang="en-US"/>
          </a:p>
        </p:txBody>
      </p:sp>
      <p:grpSp>
        <p:nvGrpSpPr>
          <p:cNvPr id="8" name="Group 7"/>
          <p:cNvGrpSpPr/>
          <p:nvPr userDrawn="1"/>
        </p:nvGrpSpPr>
        <p:grpSpPr>
          <a:xfrm>
            <a:off x="8046720" y="0"/>
            <a:ext cx="1097280" cy="1097280"/>
            <a:chOff x="7559040" y="1790699"/>
            <a:chExt cx="1097280" cy="1097280"/>
          </a:xfrm>
        </p:grpSpPr>
        <p:sp>
          <p:nvSpPr>
            <p:cNvPr id="9" name="Right Triangle 8"/>
            <p:cNvSpPr/>
            <p:nvPr/>
          </p:nvSpPr>
          <p:spPr>
            <a:xfrm rot="16200000" flipH="1">
              <a:off x="7559040" y="1790699"/>
              <a:ext cx="1097280" cy="1097280"/>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p:cNvSpPr/>
            <p:nvPr/>
          </p:nvSpPr>
          <p:spPr>
            <a:xfrm rot="16200000" flipH="1">
              <a:off x="7741920" y="1790699"/>
              <a:ext cx="914400" cy="914400"/>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p:cNvSpPr/>
            <p:nvPr/>
          </p:nvSpPr>
          <p:spPr>
            <a:xfrm rot="16200000" flipH="1">
              <a:off x="7924800" y="1790700"/>
              <a:ext cx="731520" cy="731520"/>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2" name="Straight Connector 11"/>
          <p:cNvCxnSpPr/>
          <p:nvPr userDrawn="1"/>
        </p:nvCxnSpPr>
        <p:spPr>
          <a:xfrm>
            <a:off x="0" y="1087968"/>
            <a:ext cx="9144000" cy="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15" name="Picture 14" descr="E:\wte lenovo\D\Logo\WTE Logo  5.05.2018.jpg"/>
          <p:cNvPicPr/>
          <p:nvPr userDrawn="1"/>
        </p:nvPicPr>
        <p:blipFill>
          <a:blip r:embed="rId13" cstate="print">
            <a:extLst>
              <a:ext uri="{28A0092B-C50C-407E-A947-70E740481C1C}">
                <a14:useLocalDpi xmlns:a14="http://schemas.microsoft.com/office/drawing/2010/main" xmlns="" val="0"/>
              </a:ext>
            </a:extLst>
          </a:blip>
          <a:srcRect/>
          <a:stretch>
            <a:fillRect/>
          </a:stretch>
        </p:blipFill>
        <p:spPr bwMode="auto">
          <a:xfrm>
            <a:off x="509155" y="162357"/>
            <a:ext cx="1014412" cy="814388"/>
          </a:xfrm>
          <a:prstGeom prst="rect">
            <a:avLst/>
          </a:prstGeom>
          <a:noFill/>
          <a:ln>
            <a:noFill/>
          </a:ln>
        </p:spPr>
      </p:pic>
    </p:spTree>
    <p:extLst>
      <p:ext uri="{BB962C8B-B14F-4D97-AF65-F5344CB8AC3E}">
        <p14:creationId xmlns:p14="http://schemas.microsoft.com/office/powerpoint/2010/main" xmlns="" val="952107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000" b="1" kern="1200">
          <a:solidFill>
            <a:schemeClr val="accent5">
              <a:lumMod val="75000"/>
            </a:schemeClr>
          </a:solidFill>
          <a:effectLst>
            <a:outerShdw blurRad="38100" dist="38100" dir="2700000" algn="tl">
              <a:srgbClr val="000000">
                <a:alpha val="43137"/>
              </a:srgbClr>
            </a:outerShd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5.jpeg"/><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rajakta.WTE\Desktop\P 1.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84302" y="1104900"/>
            <a:ext cx="6235698" cy="4610100"/>
          </a:xfrm>
          <a:prstGeom prst="rect">
            <a:avLst/>
          </a:prstGeom>
          <a:noFill/>
          <a:extLst>
            <a:ext uri="{909E8E84-426E-40DD-AFC4-6F175D3DCCD1}">
              <a14:hiddenFill xmlns:a14="http://schemas.microsoft.com/office/drawing/2010/main" xmlns="">
                <a:solidFill>
                  <a:srgbClr val="FFFFFF"/>
                </a:solidFill>
              </a14:hiddenFill>
            </a:ext>
          </a:extLst>
        </p:spPr>
      </p:pic>
      <p:sp>
        <p:nvSpPr>
          <p:cNvPr id="9" name="Rectangle 8"/>
          <p:cNvSpPr/>
          <p:nvPr/>
        </p:nvSpPr>
        <p:spPr>
          <a:xfrm>
            <a:off x="1" y="4076700"/>
            <a:ext cx="9143999" cy="977900"/>
          </a:xfrm>
          <a:prstGeom prst="rect">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i="1" dirty="0" smtClean="0">
                <a:ln w="9525">
                  <a:solidFill>
                    <a:schemeClr val="bg1"/>
                  </a:solidFill>
                  <a:prstDash val="solid"/>
                </a:ln>
                <a:solidFill>
                  <a:schemeClr val="tx1"/>
                </a:solidFill>
                <a:effectLst>
                  <a:outerShdw blurRad="12700" dist="38100" dir="2700000" algn="tl" rotWithShape="0">
                    <a:schemeClr val="bg1">
                      <a:lumMod val="50000"/>
                    </a:schemeClr>
                  </a:outerShdw>
                </a:effectLst>
              </a:rPr>
              <a:t>WASTE RECYCLE REUSE</a:t>
            </a:r>
            <a:endParaRPr lang="en-US" sz="6000" b="1" i="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027" name="Picture 3"/>
          <p:cNvPicPr>
            <a:picLocks noChangeAspect="1" noChangeArrowheads="1"/>
          </p:cNvPicPr>
          <p:nvPr/>
        </p:nvPicPr>
        <p:blipFill>
          <a:blip r:embed="rId3" cstate="print"/>
          <a:srcRect/>
          <a:stretch>
            <a:fillRect/>
          </a:stretch>
        </p:blipFill>
        <p:spPr bwMode="auto">
          <a:xfrm>
            <a:off x="533400" y="114300"/>
            <a:ext cx="889825" cy="838200"/>
          </a:xfrm>
          <a:prstGeom prst="rect">
            <a:avLst/>
          </a:prstGeom>
          <a:noFill/>
          <a:ln w="9525">
            <a:noFill/>
            <a:miter lim="800000"/>
            <a:headEnd/>
            <a:tailEnd/>
          </a:ln>
          <a:effectLst/>
        </p:spPr>
      </p:pic>
      <p:sp>
        <p:nvSpPr>
          <p:cNvPr id="7" name="Title 3"/>
          <p:cNvSpPr txBox="1">
            <a:spLocks/>
          </p:cNvSpPr>
          <p:nvPr/>
        </p:nvSpPr>
        <p:spPr>
          <a:xfrm>
            <a:off x="838200" y="0"/>
            <a:ext cx="7772400" cy="1225021"/>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smtClean="0">
                <a:ln>
                  <a:noFill/>
                </a:ln>
                <a:solidFill>
                  <a:schemeClr val="accent5">
                    <a:lumMod val="75000"/>
                  </a:schemeClr>
                </a:solidFill>
                <a:effectLst>
                  <a:outerShdw blurRad="38100" dist="38100" dir="2700000" algn="tl">
                    <a:srgbClr val="000000">
                      <a:alpha val="43137"/>
                    </a:srgbClr>
                  </a:outerShdw>
                </a:effectLst>
                <a:uLnTx/>
                <a:uFillTx/>
                <a:latin typeface="+mj-lt"/>
                <a:ea typeface="+mj-ea"/>
                <a:cs typeface="+mj-cs"/>
              </a:rPr>
              <a:t>SHREE SAI WATER SERVICES</a:t>
            </a:r>
            <a:endParaRPr kumimoji="0" lang="en-US" sz="4400" b="1" i="0" u="none" strike="noStrike" kern="1200" cap="none" spc="0" normalizeH="0" baseline="0" noProof="0" dirty="0">
              <a:ln>
                <a:noFill/>
              </a:ln>
              <a:solidFill>
                <a:schemeClr val="accent5">
                  <a:lumMod val="75000"/>
                </a:schemeClr>
              </a:solidFill>
              <a:effectLst>
                <a:outerShdw blurRad="38100" dist="38100" dir="2700000" algn="tl">
                  <a:srgbClr val="000000">
                    <a:alpha val="43137"/>
                  </a:srgbClr>
                </a:outerShdw>
              </a:effectLst>
              <a:uLnTx/>
              <a:uFillTx/>
              <a:latin typeface="+mj-lt"/>
              <a:ea typeface="+mj-ea"/>
              <a:cs typeface="+mj-cs"/>
            </a:endParaRPr>
          </a:p>
        </p:txBody>
      </p:sp>
    </p:spTree>
    <p:extLst>
      <p:ext uri="{BB962C8B-B14F-4D97-AF65-F5344CB8AC3E}">
        <p14:creationId xmlns:p14="http://schemas.microsoft.com/office/powerpoint/2010/main" xmlns="" val="24159611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1095377"/>
            <a:ext cx="9144000" cy="4638432"/>
          </a:xfrm>
          <a:prstGeom prst="rect">
            <a:avLst/>
          </a:prstGeom>
        </p:spPr>
      </p:pic>
      <p:sp>
        <p:nvSpPr>
          <p:cNvPr id="3074" name="Rectangle 2"/>
          <p:cNvSpPr>
            <a:spLocks noGrp="1" noChangeArrowheads="1"/>
          </p:cNvSpPr>
          <p:nvPr>
            <p:ph type="ctrTitle"/>
          </p:nvPr>
        </p:nvSpPr>
        <p:spPr/>
        <p:txBody>
          <a:bodyPr/>
          <a:lstStyle/>
          <a:p>
            <a:pPr eaLnBrk="1" hangingPunct="1"/>
            <a:r>
              <a:rPr lang="en-US" altLang="en-US" spc="50" dirty="0" smtClean="0">
                <a:ln w="9525" cmpd="sng">
                  <a:solidFill>
                    <a:schemeClr val="accent1"/>
                  </a:solidFill>
                  <a:prstDash val="solid"/>
                </a:ln>
                <a:solidFill>
                  <a:srgbClr val="70AD47">
                    <a:tint val="1000"/>
                  </a:srgbClr>
                </a:solidFill>
                <a:effectLst>
                  <a:glow rad="38100">
                    <a:schemeClr val="accent1">
                      <a:alpha val="40000"/>
                    </a:schemeClr>
                  </a:glow>
                </a:effectLst>
                <a:latin typeface="Bookman Old Style" pitchFamily="18" charset="0"/>
              </a:rPr>
              <a:t>PRESENTATION ON</a:t>
            </a:r>
          </a:p>
        </p:txBody>
      </p:sp>
      <p:sp>
        <p:nvSpPr>
          <p:cNvPr id="3076" name="Rectangle 3"/>
          <p:cNvSpPr>
            <a:spLocks noGrp="1" noChangeArrowheads="1"/>
          </p:cNvSpPr>
          <p:nvPr>
            <p:ph type="subTitle" idx="1"/>
          </p:nvPr>
        </p:nvSpPr>
        <p:spPr/>
        <p:txBody>
          <a:bodyPr>
            <a:normAutofit fontScale="92500" lnSpcReduction="20000"/>
          </a:bodyPr>
          <a:lstStyle/>
          <a:p>
            <a:pPr algn="ctr" eaLnBrk="1" hangingPunct="1">
              <a:buFontTx/>
              <a:buNone/>
            </a:pPr>
            <a:r>
              <a:rPr lang="en-US" altLang="en-US" sz="4000"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latin typeface="Bookman Old Style" pitchFamily="18" charset="0"/>
              </a:rPr>
              <a:t>STEEL ROLLING MILL INDUSTRY WATER RECYCLE PLANT </a:t>
            </a:r>
          </a:p>
        </p:txBody>
      </p:sp>
      <p:pic>
        <p:nvPicPr>
          <p:cNvPr id="5" name="Picture 3"/>
          <p:cNvPicPr>
            <a:picLocks noChangeAspect="1" noChangeArrowheads="1"/>
          </p:cNvPicPr>
          <p:nvPr/>
        </p:nvPicPr>
        <p:blipFill>
          <a:blip r:embed="rId3"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1070690403"/>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down)">
                                      <p:cBhvr>
                                        <p:cTn id="7" dur="580">
                                          <p:stCondLst>
                                            <p:cond delay="0"/>
                                          </p:stCondLst>
                                        </p:cTn>
                                        <p:tgtEl>
                                          <p:spTgt spid="3074"/>
                                        </p:tgtEl>
                                      </p:cBhvr>
                                    </p:animEffect>
                                    <p:anim calcmode="lin" valueType="num">
                                      <p:cBhvr>
                                        <p:cTn id="8" dur="1822" tmFilter="0,0; 0.14,0.36; 0.43,0.73; 0.71,0.91; 1.0,1.0">
                                          <p:stCondLst>
                                            <p:cond delay="0"/>
                                          </p:stCondLst>
                                        </p:cTn>
                                        <p:tgtEl>
                                          <p:spTgt spid="307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07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07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07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074"/>
                                        </p:tgtEl>
                                        <p:attrNameLst>
                                          <p:attrName>ppt_y</p:attrName>
                                        </p:attrNameLst>
                                      </p:cBhvr>
                                      <p:tavLst>
                                        <p:tav tm="0" fmla="#ppt_y-sin(pi*$)/81">
                                          <p:val>
                                            <p:fltVal val="0"/>
                                          </p:val>
                                        </p:tav>
                                        <p:tav tm="100000">
                                          <p:val>
                                            <p:fltVal val="1"/>
                                          </p:val>
                                        </p:tav>
                                      </p:tavLst>
                                    </p:anim>
                                    <p:animScale>
                                      <p:cBhvr>
                                        <p:cTn id="13" dur="26">
                                          <p:stCondLst>
                                            <p:cond delay="650"/>
                                          </p:stCondLst>
                                        </p:cTn>
                                        <p:tgtEl>
                                          <p:spTgt spid="3074"/>
                                        </p:tgtEl>
                                      </p:cBhvr>
                                      <p:to x="100000" y="60000"/>
                                    </p:animScale>
                                    <p:animScale>
                                      <p:cBhvr>
                                        <p:cTn id="14" dur="166" decel="50000">
                                          <p:stCondLst>
                                            <p:cond delay="676"/>
                                          </p:stCondLst>
                                        </p:cTn>
                                        <p:tgtEl>
                                          <p:spTgt spid="3074"/>
                                        </p:tgtEl>
                                      </p:cBhvr>
                                      <p:to x="100000" y="100000"/>
                                    </p:animScale>
                                    <p:animScale>
                                      <p:cBhvr>
                                        <p:cTn id="15" dur="26">
                                          <p:stCondLst>
                                            <p:cond delay="1312"/>
                                          </p:stCondLst>
                                        </p:cTn>
                                        <p:tgtEl>
                                          <p:spTgt spid="3074"/>
                                        </p:tgtEl>
                                      </p:cBhvr>
                                      <p:to x="100000" y="80000"/>
                                    </p:animScale>
                                    <p:animScale>
                                      <p:cBhvr>
                                        <p:cTn id="16" dur="166" decel="50000">
                                          <p:stCondLst>
                                            <p:cond delay="1338"/>
                                          </p:stCondLst>
                                        </p:cTn>
                                        <p:tgtEl>
                                          <p:spTgt spid="3074"/>
                                        </p:tgtEl>
                                      </p:cBhvr>
                                      <p:to x="100000" y="100000"/>
                                    </p:animScale>
                                    <p:animScale>
                                      <p:cBhvr>
                                        <p:cTn id="17" dur="26">
                                          <p:stCondLst>
                                            <p:cond delay="1642"/>
                                          </p:stCondLst>
                                        </p:cTn>
                                        <p:tgtEl>
                                          <p:spTgt spid="3074"/>
                                        </p:tgtEl>
                                      </p:cBhvr>
                                      <p:to x="100000" y="90000"/>
                                    </p:animScale>
                                    <p:animScale>
                                      <p:cBhvr>
                                        <p:cTn id="18" dur="166" decel="50000">
                                          <p:stCondLst>
                                            <p:cond delay="1668"/>
                                          </p:stCondLst>
                                        </p:cTn>
                                        <p:tgtEl>
                                          <p:spTgt spid="3074"/>
                                        </p:tgtEl>
                                      </p:cBhvr>
                                      <p:to x="100000" y="100000"/>
                                    </p:animScale>
                                    <p:animScale>
                                      <p:cBhvr>
                                        <p:cTn id="19" dur="26">
                                          <p:stCondLst>
                                            <p:cond delay="1808"/>
                                          </p:stCondLst>
                                        </p:cTn>
                                        <p:tgtEl>
                                          <p:spTgt spid="3074"/>
                                        </p:tgtEl>
                                      </p:cBhvr>
                                      <p:to x="100000" y="95000"/>
                                    </p:animScale>
                                    <p:animScale>
                                      <p:cBhvr>
                                        <p:cTn id="20" dur="166" decel="50000">
                                          <p:stCondLst>
                                            <p:cond delay="1834"/>
                                          </p:stCondLst>
                                        </p:cTn>
                                        <p:tgtEl>
                                          <p:spTgt spid="3074"/>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076">
                                            <p:txEl>
                                              <p:pRg st="0" end="0"/>
                                            </p:txEl>
                                          </p:spTgt>
                                        </p:tgtEl>
                                        <p:attrNameLst>
                                          <p:attrName>style.visibility</p:attrName>
                                        </p:attrNameLst>
                                      </p:cBhvr>
                                      <p:to>
                                        <p:strVal val="visible"/>
                                      </p:to>
                                    </p:set>
                                    <p:animEffect transition="in" filter="wipe(down)">
                                      <p:cBhvr>
                                        <p:cTn id="23" dur="580">
                                          <p:stCondLst>
                                            <p:cond delay="0"/>
                                          </p:stCondLst>
                                        </p:cTn>
                                        <p:tgtEl>
                                          <p:spTgt spid="3076">
                                            <p:txEl>
                                              <p:pRg st="0" end="0"/>
                                            </p:txEl>
                                          </p:spTgt>
                                        </p:tgtEl>
                                      </p:cBhvr>
                                    </p:animEffect>
                                    <p:anim calcmode="lin" valueType="num">
                                      <p:cBhvr>
                                        <p:cTn id="24" dur="1822" tmFilter="0,0; 0.14,0.36; 0.43,0.73; 0.71,0.91; 1.0,1.0">
                                          <p:stCondLst>
                                            <p:cond delay="0"/>
                                          </p:stCondLst>
                                        </p:cTn>
                                        <p:tgtEl>
                                          <p:spTgt spid="3076">
                                            <p:txEl>
                                              <p:pRg st="0" end="0"/>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076">
                                            <p:txEl>
                                              <p:pRg st="0" end="0"/>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076">
                                            <p:txEl>
                                              <p:pRg st="0" end="0"/>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076">
                                            <p:txEl>
                                              <p:pRg st="0" end="0"/>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076">
                                            <p:txEl>
                                              <p:pRg st="0" end="0"/>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076">
                                            <p:txEl>
                                              <p:pRg st="0" end="0"/>
                                            </p:txEl>
                                          </p:spTgt>
                                        </p:tgtEl>
                                      </p:cBhvr>
                                      <p:to x="100000" y="60000"/>
                                    </p:animScale>
                                    <p:animScale>
                                      <p:cBhvr>
                                        <p:cTn id="30" dur="166" decel="50000">
                                          <p:stCondLst>
                                            <p:cond delay="676"/>
                                          </p:stCondLst>
                                        </p:cTn>
                                        <p:tgtEl>
                                          <p:spTgt spid="3076">
                                            <p:txEl>
                                              <p:pRg st="0" end="0"/>
                                            </p:txEl>
                                          </p:spTgt>
                                        </p:tgtEl>
                                      </p:cBhvr>
                                      <p:to x="100000" y="100000"/>
                                    </p:animScale>
                                    <p:animScale>
                                      <p:cBhvr>
                                        <p:cTn id="31" dur="26">
                                          <p:stCondLst>
                                            <p:cond delay="1312"/>
                                          </p:stCondLst>
                                        </p:cTn>
                                        <p:tgtEl>
                                          <p:spTgt spid="3076">
                                            <p:txEl>
                                              <p:pRg st="0" end="0"/>
                                            </p:txEl>
                                          </p:spTgt>
                                        </p:tgtEl>
                                      </p:cBhvr>
                                      <p:to x="100000" y="80000"/>
                                    </p:animScale>
                                    <p:animScale>
                                      <p:cBhvr>
                                        <p:cTn id="32" dur="166" decel="50000">
                                          <p:stCondLst>
                                            <p:cond delay="1338"/>
                                          </p:stCondLst>
                                        </p:cTn>
                                        <p:tgtEl>
                                          <p:spTgt spid="3076">
                                            <p:txEl>
                                              <p:pRg st="0" end="0"/>
                                            </p:txEl>
                                          </p:spTgt>
                                        </p:tgtEl>
                                      </p:cBhvr>
                                      <p:to x="100000" y="100000"/>
                                    </p:animScale>
                                    <p:animScale>
                                      <p:cBhvr>
                                        <p:cTn id="33" dur="26">
                                          <p:stCondLst>
                                            <p:cond delay="1642"/>
                                          </p:stCondLst>
                                        </p:cTn>
                                        <p:tgtEl>
                                          <p:spTgt spid="3076">
                                            <p:txEl>
                                              <p:pRg st="0" end="0"/>
                                            </p:txEl>
                                          </p:spTgt>
                                        </p:tgtEl>
                                      </p:cBhvr>
                                      <p:to x="100000" y="90000"/>
                                    </p:animScale>
                                    <p:animScale>
                                      <p:cBhvr>
                                        <p:cTn id="34" dur="166" decel="50000">
                                          <p:stCondLst>
                                            <p:cond delay="1668"/>
                                          </p:stCondLst>
                                        </p:cTn>
                                        <p:tgtEl>
                                          <p:spTgt spid="3076">
                                            <p:txEl>
                                              <p:pRg st="0" end="0"/>
                                            </p:txEl>
                                          </p:spTgt>
                                        </p:tgtEl>
                                      </p:cBhvr>
                                      <p:to x="100000" y="100000"/>
                                    </p:animScale>
                                    <p:animScale>
                                      <p:cBhvr>
                                        <p:cTn id="35" dur="26">
                                          <p:stCondLst>
                                            <p:cond delay="1808"/>
                                          </p:stCondLst>
                                        </p:cTn>
                                        <p:tgtEl>
                                          <p:spTgt spid="3076">
                                            <p:txEl>
                                              <p:pRg st="0" end="0"/>
                                            </p:txEl>
                                          </p:spTgt>
                                        </p:tgtEl>
                                      </p:cBhvr>
                                      <p:to x="100000" y="95000"/>
                                    </p:animScale>
                                    <p:animScale>
                                      <p:cBhvr>
                                        <p:cTn id="36" dur="166" decel="50000">
                                          <p:stCondLst>
                                            <p:cond delay="1834"/>
                                          </p:stCondLst>
                                        </p:cTn>
                                        <p:tgtEl>
                                          <p:spTgt spid="3076">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ubtitle 5"/>
          <p:cNvSpPr>
            <a:spLocks noGrp="1"/>
          </p:cNvSpPr>
          <p:nvPr>
            <p:ph idx="1"/>
          </p:nvPr>
        </p:nvSpPr>
        <p:spPr/>
        <p:txBody>
          <a:bodyPr>
            <a:normAutofit/>
          </a:bodyPr>
          <a:lstStyle/>
          <a:p>
            <a:pPr algn="l"/>
            <a:endParaRPr lang="en-US" sz="3600" b="1" dirty="0" smtClean="0">
              <a:solidFill>
                <a:srgbClr val="0000FF"/>
              </a:solidFill>
              <a:latin typeface="Calibri" pitchFamily="34" charset="0"/>
              <a:cs typeface="Calibri" pitchFamily="34" charset="0"/>
            </a:endParaRPr>
          </a:p>
          <a:p>
            <a:pPr algn="l">
              <a:buFont typeface="Wingdings" pitchFamily="2" charset="2"/>
              <a:buChar char="§"/>
            </a:pPr>
            <a:r>
              <a:rPr lang="en-US" sz="4200" b="1" dirty="0" smtClean="0">
                <a:solidFill>
                  <a:srgbClr val="0000FF"/>
                </a:solidFill>
                <a:latin typeface="Calibri" pitchFamily="34" charset="0"/>
                <a:cs typeface="Calibri" pitchFamily="34" charset="0"/>
              </a:rPr>
              <a:t>PROCESS AND WATER USES </a:t>
            </a:r>
          </a:p>
          <a:p>
            <a:pPr algn="l">
              <a:buFont typeface="Wingdings" pitchFamily="2" charset="2"/>
              <a:buChar char="§"/>
            </a:pPr>
            <a:r>
              <a:rPr lang="en-US" sz="4200" b="1" dirty="0" smtClean="0">
                <a:solidFill>
                  <a:srgbClr val="0000FF"/>
                </a:solidFill>
                <a:latin typeface="Calibri" pitchFamily="34" charset="0"/>
                <a:cs typeface="Calibri" pitchFamily="34" charset="0"/>
              </a:rPr>
              <a:t>PROBLEM FACED BY ROLLING MILL</a:t>
            </a:r>
          </a:p>
          <a:p>
            <a:pPr algn="l">
              <a:buFont typeface="Wingdings" pitchFamily="2" charset="2"/>
              <a:buChar char="§"/>
            </a:pPr>
            <a:r>
              <a:rPr lang="en-US" sz="4200" b="1" dirty="0" smtClean="0">
                <a:solidFill>
                  <a:srgbClr val="0000FF"/>
                </a:solidFill>
                <a:latin typeface="Calibri" pitchFamily="34" charset="0"/>
                <a:cs typeface="Calibri" pitchFamily="34" charset="0"/>
              </a:rPr>
              <a:t>ADVANTAGES AFTER TREATMENT</a:t>
            </a:r>
          </a:p>
          <a:p>
            <a:pPr algn="l">
              <a:buFont typeface="Wingdings" pitchFamily="2" charset="2"/>
              <a:buChar char="§"/>
            </a:pPr>
            <a:r>
              <a:rPr lang="en-US" sz="4200" b="1" dirty="0" smtClean="0">
                <a:solidFill>
                  <a:srgbClr val="0000FF"/>
                </a:solidFill>
                <a:latin typeface="Calibri" pitchFamily="34" charset="0"/>
                <a:cs typeface="Calibri" pitchFamily="34" charset="0"/>
              </a:rPr>
              <a:t>TREATMENT UNIT DESCRIPTION</a:t>
            </a:r>
          </a:p>
          <a:p>
            <a:endParaRPr lang="en-US" dirty="0" smtClean="0"/>
          </a:p>
        </p:txBody>
      </p:sp>
      <p:pic>
        <p:nvPicPr>
          <p:cNvPr id="3"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1055803303"/>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7" presetClass="entr" presetSubtype="0" fill="hold" grpId="0" nodeType="afterEffect">
                                  <p:stCondLst>
                                    <p:cond delay="0"/>
                                  </p:stCondLst>
                                  <p:iterate type="lt">
                                    <p:tmPct val="50000"/>
                                  </p:iterate>
                                  <p:childTnLst>
                                    <p:set>
                                      <p:cBhvr>
                                        <p:cTn id="6" dur="1" fill="hold">
                                          <p:stCondLst>
                                            <p:cond delay="0"/>
                                          </p:stCondLst>
                                        </p:cTn>
                                        <p:tgtEl>
                                          <p:spTgt spid="10242">
                                            <p:txEl>
                                              <p:pRg st="1" end="1"/>
                                            </p:txEl>
                                          </p:spTgt>
                                        </p:tgtEl>
                                        <p:attrNameLst>
                                          <p:attrName>style.visibility</p:attrName>
                                        </p:attrNameLst>
                                      </p:cBhvr>
                                      <p:to>
                                        <p:strVal val="visible"/>
                                      </p:to>
                                    </p:set>
                                    <p:anim calcmode="discrete" valueType="clr">
                                      <p:cBhvr override="childStyle">
                                        <p:cTn id="7" dur="80"/>
                                        <p:tgtEl>
                                          <p:spTgt spid="1024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242">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0242">
                                            <p:txEl>
                                              <p:pRg st="1" end="1"/>
                                            </p:txEl>
                                          </p:spTgt>
                                        </p:tgtEl>
                                        <p:attrNameLst>
                                          <p:attrName>fill.type</p:attrName>
                                        </p:attrNameLst>
                                      </p:cBhvr>
                                      <p:to>
                                        <p:strVal val="solid"/>
                                      </p:to>
                                    </p:set>
                                  </p:childTnLst>
                                </p:cTn>
                              </p:par>
                            </p:childTnLst>
                          </p:cTn>
                        </p:par>
                        <p:par>
                          <p:cTn id="10" fill="hold">
                            <p:stCondLst>
                              <p:cond delay="8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10242">
                                            <p:txEl>
                                              <p:pRg st="2" end="2"/>
                                            </p:txEl>
                                          </p:spTgt>
                                        </p:tgtEl>
                                        <p:attrNameLst>
                                          <p:attrName>style.visibility</p:attrName>
                                        </p:attrNameLst>
                                      </p:cBhvr>
                                      <p:to>
                                        <p:strVal val="visible"/>
                                      </p:to>
                                    </p:set>
                                    <p:anim calcmode="discrete" valueType="clr">
                                      <p:cBhvr override="childStyle">
                                        <p:cTn id="13" dur="80"/>
                                        <p:tgtEl>
                                          <p:spTgt spid="1024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0242">
                                            <p:txEl>
                                              <p:pRg st="2" end="2"/>
                                            </p:txEl>
                                          </p:spTgt>
                                        </p:tgtEl>
                                        <p:attrNameLst>
                                          <p:attrName>fillcolor</p:attrName>
                                        </p:attrNameLst>
                                      </p:cBhvr>
                                      <p:tavLst>
                                        <p:tav tm="0">
                                          <p:val>
                                            <p:clrVal>
                                              <a:schemeClr val="accent2"/>
                                            </p:clrVal>
                                          </p:val>
                                        </p:tav>
                                        <p:tav tm="50000">
                                          <p:val>
                                            <p:clrVal>
                                              <a:schemeClr val="hlink"/>
                                            </p:clrVal>
                                          </p:val>
                                        </p:tav>
                                      </p:tavLst>
                                    </p:anim>
                                    <p:set>
                                      <p:cBhvr>
                                        <p:cTn id="15" dur="80"/>
                                        <p:tgtEl>
                                          <p:spTgt spid="10242">
                                            <p:txEl>
                                              <p:pRg st="2" end="2"/>
                                            </p:txEl>
                                          </p:spTgt>
                                        </p:tgtEl>
                                        <p:attrNameLst>
                                          <p:attrName>fill.type</p:attrName>
                                        </p:attrNameLst>
                                      </p:cBhvr>
                                      <p:to>
                                        <p:strVal val="solid"/>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10242">
                                            <p:txEl>
                                              <p:pRg st="3" end="3"/>
                                            </p:txEl>
                                          </p:spTgt>
                                        </p:tgtEl>
                                        <p:attrNameLst>
                                          <p:attrName>style.visibility</p:attrName>
                                        </p:attrNameLst>
                                      </p:cBhvr>
                                      <p:to>
                                        <p:strVal val="visible"/>
                                      </p:to>
                                    </p:set>
                                    <p:anim calcmode="discrete" valueType="clr">
                                      <p:cBhvr override="childStyle">
                                        <p:cTn id="20" dur="80"/>
                                        <p:tgtEl>
                                          <p:spTgt spid="1024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10242">
                                            <p:txEl>
                                              <p:pRg st="3" end="3"/>
                                            </p:txEl>
                                          </p:spTgt>
                                        </p:tgtEl>
                                        <p:attrNameLst>
                                          <p:attrName>fillcolor</p:attrName>
                                        </p:attrNameLst>
                                      </p:cBhvr>
                                      <p:tavLst>
                                        <p:tav tm="0">
                                          <p:val>
                                            <p:clrVal>
                                              <a:schemeClr val="accent2"/>
                                            </p:clrVal>
                                          </p:val>
                                        </p:tav>
                                        <p:tav tm="50000">
                                          <p:val>
                                            <p:clrVal>
                                              <a:schemeClr val="hlink"/>
                                            </p:clrVal>
                                          </p:val>
                                        </p:tav>
                                      </p:tavLst>
                                    </p:anim>
                                    <p:set>
                                      <p:cBhvr>
                                        <p:cTn id="22" dur="80"/>
                                        <p:tgtEl>
                                          <p:spTgt spid="10242">
                                            <p:txEl>
                                              <p:pRg st="3" end="3"/>
                                            </p:txEl>
                                          </p:spTgt>
                                        </p:tgtEl>
                                        <p:attrNameLst>
                                          <p:attrName>fill.type</p:attrName>
                                        </p:attrNameLst>
                                      </p:cBhvr>
                                      <p:to>
                                        <p:strVal val="solid"/>
                                      </p:to>
                                    </p:set>
                                  </p:childTnLst>
                                </p:cTn>
                              </p:par>
                            </p:childTnLst>
                          </p:cTn>
                        </p:par>
                        <p:par>
                          <p:cTn id="23" fill="hold" nodeType="afterGroup">
                            <p:stCondLst>
                              <p:cond delay="1000"/>
                            </p:stCondLst>
                            <p:childTnLst>
                              <p:par>
                                <p:cTn id="24" presetID="27" presetClass="entr" presetSubtype="0" fill="hold" grpId="0" nodeType="afterEffect">
                                  <p:stCondLst>
                                    <p:cond delay="0"/>
                                  </p:stCondLst>
                                  <p:iterate type="lt">
                                    <p:tmPct val="50000"/>
                                  </p:iterate>
                                  <p:childTnLst>
                                    <p:set>
                                      <p:cBhvr>
                                        <p:cTn id="25" dur="1" fill="hold">
                                          <p:stCondLst>
                                            <p:cond delay="0"/>
                                          </p:stCondLst>
                                        </p:cTn>
                                        <p:tgtEl>
                                          <p:spTgt spid="10242">
                                            <p:txEl>
                                              <p:pRg st="4" end="4"/>
                                            </p:txEl>
                                          </p:spTgt>
                                        </p:tgtEl>
                                        <p:attrNameLst>
                                          <p:attrName>style.visibility</p:attrName>
                                        </p:attrNameLst>
                                      </p:cBhvr>
                                      <p:to>
                                        <p:strVal val="visible"/>
                                      </p:to>
                                    </p:set>
                                    <p:anim calcmode="discrete" valueType="clr">
                                      <p:cBhvr override="childStyle">
                                        <p:cTn id="26" dur="80"/>
                                        <p:tgtEl>
                                          <p:spTgt spid="1024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0242">
                                            <p:txEl>
                                              <p:pRg st="4" end="4"/>
                                            </p:txEl>
                                          </p:spTgt>
                                        </p:tgtEl>
                                        <p:attrNameLst>
                                          <p:attrName>fillcolor</p:attrName>
                                        </p:attrNameLst>
                                      </p:cBhvr>
                                      <p:tavLst>
                                        <p:tav tm="0">
                                          <p:val>
                                            <p:clrVal>
                                              <a:schemeClr val="accent2"/>
                                            </p:clrVal>
                                          </p:val>
                                        </p:tav>
                                        <p:tav tm="50000">
                                          <p:val>
                                            <p:clrVal>
                                              <a:schemeClr val="hlink"/>
                                            </p:clrVal>
                                          </p:val>
                                        </p:tav>
                                      </p:tavLst>
                                    </p:anim>
                                    <p:set>
                                      <p:cBhvr>
                                        <p:cTn id="28" dur="80"/>
                                        <p:tgtEl>
                                          <p:spTgt spid="10242">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14300"/>
            <a:ext cx="7696200" cy="952500"/>
          </a:xfrm>
        </p:spPr>
        <p:txBody>
          <a:bodyPr/>
          <a:lstStyle/>
          <a:p>
            <a:r>
              <a:rPr lang="en-US" dirty="0" smtClean="0">
                <a:solidFill>
                  <a:srgbClr val="0000FF"/>
                </a:solidFill>
              </a:rPr>
              <a:t>WATER USES IN STEEL INDUSTRY</a:t>
            </a:r>
            <a:endParaRPr lang="en-US" dirty="0">
              <a:solidFill>
                <a:srgbClr val="0000FF"/>
              </a:solidFill>
            </a:endParaRPr>
          </a:p>
        </p:txBody>
      </p:sp>
      <p:sp>
        <p:nvSpPr>
          <p:cNvPr id="3" name="Content Placeholder 2"/>
          <p:cNvSpPr>
            <a:spLocks noGrp="1"/>
          </p:cNvSpPr>
          <p:nvPr>
            <p:ph idx="1"/>
          </p:nvPr>
        </p:nvSpPr>
        <p:spPr>
          <a:xfrm>
            <a:off x="457200" y="1181100"/>
            <a:ext cx="8229600" cy="4419600"/>
          </a:xfrm>
        </p:spPr>
        <p:txBody>
          <a:bodyPr>
            <a:normAutofit fontScale="55000" lnSpcReduction="20000"/>
          </a:bodyPr>
          <a:lstStyle/>
          <a:p>
            <a:r>
              <a:rPr lang="en-US" sz="3400" dirty="0"/>
              <a:t>Most of the water used in a steel plant is for cooling. Examples are coke quenching, cooling of blast furnace shell, oxygen lance in converter, cooling in continuous casting machines and hot rolling mills. Virtually any hot spot is cooled mainly by using water, one way or another.</a:t>
            </a:r>
          </a:p>
          <a:p>
            <a:r>
              <a:rPr lang="en-US" sz="3400" dirty="0"/>
              <a:t>Water is used for cleaning off-gas, in coke ovens, blast furnaces, and basic oxygen furnace etc.</a:t>
            </a:r>
          </a:p>
          <a:p>
            <a:r>
              <a:rPr lang="en-US" sz="3400" dirty="0"/>
              <a:t>Water is used for descaling in continuous casting and in hot rolling operations. It is also used as conveying media for transporting scales to the scale pit.</a:t>
            </a:r>
          </a:p>
          <a:p>
            <a:r>
              <a:rPr lang="en-US" sz="3400" dirty="0"/>
              <a:t>Water is used for on line heat treatment (thermo mechanical treatment) in the hot rolling mills.</a:t>
            </a:r>
          </a:p>
          <a:p>
            <a:r>
              <a:rPr lang="en-US" sz="3400" dirty="0" smtClean="0"/>
              <a:t>Water </a:t>
            </a:r>
            <a:r>
              <a:rPr lang="en-US" sz="3400" dirty="0"/>
              <a:t>is also used as part of chemical treatments, such as solvent in acidic pickling, matrix for generation of emulsions for rolling, cleaning, degreasing or rinsing steel sheet surface, etc.</a:t>
            </a:r>
          </a:p>
          <a:p>
            <a:r>
              <a:rPr lang="en-US" sz="3400" dirty="0"/>
              <a:t>Water is used for electrochemical treatments, such as electro-galvanizing or tin plating etc.</a:t>
            </a:r>
          </a:p>
          <a:p>
            <a:pPr marL="0" indent="0">
              <a:buNone/>
            </a:pP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45491349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14300"/>
            <a:ext cx="7391400" cy="914400"/>
          </a:xfrm>
        </p:spPr>
        <p:txBody>
          <a:bodyPr>
            <a:normAutofit fontScale="90000"/>
          </a:bodyPr>
          <a:lstStyle/>
          <a:p>
            <a:r>
              <a:rPr lang="en-US" dirty="0" smtClean="0">
                <a:solidFill>
                  <a:srgbClr val="0000FF"/>
                </a:solidFill>
              </a:rPr>
              <a:t>PROBLEM FACED BY MILL BEFORE INSTALLING TREATMENT PLANT</a:t>
            </a:r>
            <a:endParaRPr lang="en-US" dirty="0">
              <a:solidFill>
                <a:srgbClr val="0000FF"/>
              </a:solidFill>
            </a:endParaRPr>
          </a:p>
        </p:txBody>
      </p:sp>
      <p:sp>
        <p:nvSpPr>
          <p:cNvPr id="3" name="Content Placeholder 2"/>
          <p:cNvSpPr>
            <a:spLocks noGrp="1"/>
          </p:cNvSpPr>
          <p:nvPr>
            <p:ph idx="1"/>
          </p:nvPr>
        </p:nvSpPr>
        <p:spPr>
          <a:xfrm>
            <a:off x="457200" y="1562100"/>
            <a:ext cx="8229600" cy="3657600"/>
          </a:xfrm>
        </p:spPr>
        <p:txBody>
          <a:bodyPr>
            <a:normAutofit fontScale="85000" lnSpcReduction="10000"/>
          </a:bodyPr>
          <a:lstStyle/>
          <a:p>
            <a:r>
              <a:rPr lang="en-US" sz="3100" dirty="0" smtClean="0"/>
              <a:t>All processed water were going in drain and there is no way to use the same.</a:t>
            </a:r>
          </a:p>
          <a:p>
            <a:r>
              <a:rPr lang="en-US" sz="3100" dirty="0" smtClean="0"/>
              <a:t>TMT Bar rusting &amp; lost of shining issues were observed </a:t>
            </a:r>
          </a:p>
          <a:p>
            <a:r>
              <a:rPr lang="en-US" sz="3100" dirty="0" smtClean="0"/>
              <a:t>Roll or Pass life decreased by using same untreated water</a:t>
            </a:r>
          </a:p>
          <a:p>
            <a:r>
              <a:rPr lang="en-US" sz="3100" dirty="0" smtClean="0"/>
              <a:t>Frequent Pump maintenance issues were there which in terms increases maintenance cost.</a:t>
            </a:r>
          </a:p>
          <a:p>
            <a:r>
              <a:rPr lang="en-US" sz="3100" dirty="0" smtClean="0"/>
              <a:t>Because of frequent maintenance issues plant need to shut down which in terms decreases production capacity</a:t>
            </a:r>
          </a:p>
          <a:p>
            <a:endParaRPr lang="en-US" dirty="0" smtClean="0"/>
          </a:p>
          <a:p>
            <a:endParaRPr lang="en-US" dirty="0" smtClean="0"/>
          </a:p>
          <a:p>
            <a:endParaRPr lang="en-US" dirty="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25359194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14300"/>
            <a:ext cx="7467600" cy="914400"/>
          </a:xfrm>
        </p:spPr>
        <p:txBody>
          <a:bodyPr>
            <a:normAutofit fontScale="90000"/>
          </a:bodyPr>
          <a:lstStyle/>
          <a:p>
            <a:r>
              <a:rPr lang="en-US" dirty="0" smtClean="0">
                <a:solidFill>
                  <a:srgbClr val="0000FF"/>
                </a:solidFill>
              </a:rPr>
              <a:t>ADVANTAGES AFTER INSTALLING TREATMENT PLANT</a:t>
            </a:r>
            <a:endParaRPr lang="en-US" dirty="0">
              <a:solidFill>
                <a:srgbClr val="0000FF"/>
              </a:solidFill>
            </a:endParaRPr>
          </a:p>
        </p:txBody>
      </p:sp>
      <p:sp>
        <p:nvSpPr>
          <p:cNvPr id="3" name="Content Placeholder 2"/>
          <p:cNvSpPr>
            <a:spLocks noGrp="1"/>
          </p:cNvSpPr>
          <p:nvPr>
            <p:ph idx="1"/>
          </p:nvPr>
        </p:nvSpPr>
        <p:spPr>
          <a:xfrm>
            <a:off x="457200" y="1257300"/>
            <a:ext cx="8229600" cy="4191000"/>
          </a:xfrm>
        </p:spPr>
        <p:txBody>
          <a:bodyPr>
            <a:normAutofit fontScale="92500" lnSpcReduction="20000"/>
          </a:bodyPr>
          <a:lstStyle/>
          <a:p>
            <a:r>
              <a:rPr lang="en-US" sz="3100" dirty="0" smtClean="0"/>
              <a:t>The shining of the product improved and continue upto 15 days than regular water.</a:t>
            </a:r>
          </a:p>
          <a:p>
            <a:r>
              <a:rPr lang="en-US" sz="3100" dirty="0" smtClean="0"/>
              <a:t>The maintenance of all pumps and pipe line will get reduce to 80%</a:t>
            </a:r>
          </a:p>
          <a:p>
            <a:r>
              <a:rPr lang="en-US" sz="3100" dirty="0" smtClean="0"/>
              <a:t>Roller Pass life get increased by 30%</a:t>
            </a:r>
          </a:p>
          <a:p>
            <a:r>
              <a:rPr lang="en-US" sz="3100" dirty="0" smtClean="0"/>
              <a:t>Water losses are decreased as blow down frequency increased</a:t>
            </a:r>
          </a:p>
          <a:p>
            <a:r>
              <a:rPr lang="en-US" sz="3100" dirty="0" smtClean="0"/>
              <a:t>Cooling tower life is increased, scaling and fouling of Cooling tower decreased, overall efficiency of CT will increase. </a:t>
            </a:r>
          </a:p>
          <a:p>
            <a:endParaRPr lang="en-US" dirty="0" smtClean="0"/>
          </a:p>
          <a:p>
            <a:endParaRPr lang="en-US" dirty="0" smtClean="0"/>
          </a:p>
          <a:p>
            <a:endParaRPr lang="en-US" dirty="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8561858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14300"/>
            <a:ext cx="7696200" cy="952500"/>
          </a:xfrm>
        </p:spPr>
        <p:txBody>
          <a:bodyPr/>
          <a:lstStyle/>
          <a:p>
            <a:r>
              <a:rPr lang="en-US" dirty="0" smtClean="0">
                <a:solidFill>
                  <a:srgbClr val="0000FF"/>
                </a:solidFill>
              </a:rPr>
              <a:t>WATER RECIRCULATION PLANT</a:t>
            </a:r>
            <a:endParaRPr lang="en-US" dirty="0">
              <a:solidFill>
                <a:srgbClr val="0000FF"/>
              </a:solidFill>
            </a:endParaRPr>
          </a:p>
        </p:txBody>
      </p:sp>
      <p:sp>
        <p:nvSpPr>
          <p:cNvPr id="3" name="Content Placeholder 2"/>
          <p:cNvSpPr>
            <a:spLocks noGrp="1"/>
          </p:cNvSpPr>
          <p:nvPr>
            <p:ph idx="1"/>
          </p:nvPr>
        </p:nvSpPr>
        <p:spPr>
          <a:xfrm>
            <a:off x="457200" y="1181100"/>
            <a:ext cx="8458200" cy="4343400"/>
          </a:xfrm>
        </p:spPr>
        <p:txBody>
          <a:bodyPr>
            <a:normAutofit/>
          </a:bodyPr>
          <a:lstStyle/>
          <a:p>
            <a:pPr algn="just"/>
            <a:r>
              <a:rPr lang="en-US" dirty="0" smtClean="0"/>
              <a:t>Water generated from various process can be used after proper treatment</a:t>
            </a:r>
          </a:p>
          <a:p>
            <a:pPr algn="just"/>
            <a:r>
              <a:rPr lang="en-US" dirty="0" smtClean="0"/>
              <a:t>Recycle Treatment plant include Primary Clarifier and filtration which remove Oil, Grease and suspended particles from water and make water suitable for process like Quenching, Cooling of Rolling mills.</a:t>
            </a:r>
            <a:endParaRPr lang="en-US" dirty="0"/>
          </a:p>
          <a:p>
            <a:endParaRPr lang="en-US" dirty="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40287334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14300"/>
            <a:ext cx="7467600" cy="952500"/>
          </a:xfrm>
        </p:spPr>
        <p:txBody>
          <a:bodyPr>
            <a:normAutofit fontScale="90000"/>
          </a:bodyPr>
          <a:lstStyle/>
          <a:p>
            <a:r>
              <a:rPr lang="en-US" dirty="0" smtClean="0">
                <a:solidFill>
                  <a:srgbClr val="0000FF"/>
                </a:solidFill>
              </a:rPr>
              <a:t> </a:t>
            </a:r>
            <a:r>
              <a:rPr lang="en-US" sz="3600" dirty="0" smtClean="0">
                <a:solidFill>
                  <a:srgbClr val="0000FF"/>
                </a:solidFill>
              </a:rPr>
              <a:t>PROCESS UNITS IN TREATMENT PLANT</a:t>
            </a:r>
            <a:endParaRPr lang="en-US" sz="3600" dirty="0">
              <a:solidFill>
                <a:srgbClr val="0000FF"/>
              </a:solidFill>
            </a:endParaRPr>
          </a:p>
        </p:txBody>
      </p:sp>
      <p:sp>
        <p:nvSpPr>
          <p:cNvPr id="3" name="Content Placeholder 2"/>
          <p:cNvSpPr>
            <a:spLocks noGrp="1"/>
          </p:cNvSpPr>
          <p:nvPr>
            <p:ph idx="1"/>
          </p:nvPr>
        </p:nvSpPr>
        <p:spPr/>
        <p:txBody>
          <a:bodyPr>
            <a:normAutofit fontScale="92500"/>
          </a:bodyPr>
          <a:lstStyle/>
          <a:p>
            <a:r>
              <a:rPr lang="en-US" b="1" dirty="0" smtClean="0"/>
              <a:t>Collection tank</a:t>
            </a:r>
            <a:r>
              <a:rPr lang="en-US" dirty="0" smtClean="0"/>
              <a:t>– It is provided to collect all waste water through under drain.</a:t>
            </a:r>
          </a:p>
          <a:p>
            <a:r>
              <a:rPr lang="en-US" b="1" dirty="0" smtClean="0"/>
              <a:t>Clarifier </a:t>
            </a:r>
            <a:r>
              <a:rPr lang="en-US" dirty="0"/>
              <a:t>–</a:t>
            </a:r>
            <a:r>
              <a:rPr lang="en-US" dirty="0" smtClean="0"/>
              <a:t> Clarifier is provided to remove Suspended particles and oil &amp; grease from water. </a:t>
            </a:r>
          </a:p>
          <a:p>
            <a:r>
              <a:rPr lang="en-US" b="1" dirty="0" smtClean="0"/>
              <a:t>Filtration –</a:t>
            </a:r>
            <a:r>
              <a:rPr lang="en-US" dirty="0" smtClean="0"/>
              <a:t> </a:t>
            </a:r>
            <a:r>
              <a:rPr lang="en-US" dirty="0"/>
              <a:t>Filtration is used to remove suspended particles from </a:t>
            </a:r>
            <a:r>
              <a:rPr lang="en-US" dirty="0" smtClean="0"/>
              <a:t>water escaped from clarifier</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33911479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6"/>
          <p:cNvSpPr>
            <a:spLocks noGrp="1"/>
          </p:cNvSpPr>
          <p:nvPr>
            <p:ph type="title"/>
          </p:nvPr>
        </p:nvSpPr>
        <p:spPr>
          <a:xfrm>
            <a:off x="1219200" y="114300"/>
            <a:ext cx="7391400" cy="952500"/>
          </a:xfrm>
        </p:spPr>
        <p:txBody>
          <a:bodyPr>
            <a:normAutofit/>
          </a:bodyPr>
          <a:lstStyle/>
          <a:p>
            <a:r>
              <a:rPr lang="en-US" sz="2400" dirty="0" smtClean="0">
                <a:solidFill>
                  <a:srgbClr val="0000FF"/>
                </a:solidFill>
                <a:latin typeface="Aharoni" pitchFamily="2" charset="-79"/>
                <a:cs typeface="Aharoni" pitchFamily="2" charset="-79"/>
              </a:rPr>
              <a:t>TYPICAL PROCESS FLOW DIAGRAM FOR RECIRCULATION PLANT </a:t>
            </a:r>
          </a:p>
        </p:txBody>
      </p:sp>
      <p:pic>
        <p:nvPicPr>
          <p:cNvPr id="9" name="Content Placeholder 3"/>
          <p:cNvPicPr>
            <a:picLocks/>
          </p:cNvPicPr>
          <p:nvPr/>
        </p:nvPicPr>
        <p:blipFill>
          <a:blip r:embed="rId2">
            <a:extLst>
              <a:ext uri="{28A0092B-C50C-407E-A947-70E740481C1C}">
                <a14:useLocalDpi xmlns:a14="http://schemas.microsoft.com/office/drawing/2010/main" xmlns="" val="0"/>
              </a:ext>
            </a:extLst>
          </a:blip>
          <a:srcRect/>
          <a:stretch>
            <a:fillRect/>
          </a:stretch>
        </p:blipFill>
        <p:spPr>
          <a:xfrm>
            <a:off x="4987290" y="3363590"/>
            <a:ext cx="4080510" cy="235141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410200" y="1175796"/>
            <a:ext cx="3414562" cy="2391549"/>
          </a:xfrm>
          <a:prstGeom prst="rect">
            <a:avLst/>
          </a:prstGeom>
        </p:spPr>
      </p:pic>
      <p:pic>
        <p:nvPicPr>
          <p:cNvPr id="10" name="Picture 9"/>
          <p:cNvPicPr>
            <a:picLocks noChangeAspect="1"/>
          </p:cNvPicPr>
          <p:nvPr/>
        </p:nvPicPr>
        <p:blipFill>
          <a:blip r:embed="rId4"/>
          <a:stretch>
            <a:fillRect/>
          </a:stretch>
        </p:blipFill>
        <p:spPr>
          <a:xfrm>
            <a:off x="609600" y="1189479"/>
            <a:ext cx="4557562" cy="4436235"/>
          </a:xfrm>
          <a:prstGeom prst="rect">
            <a:avLst/>
          </a:prstGeom>
        </p:spPr>
      </p:pic>
      <p:pic>
        <p:nvPicPr>
          <p:cNvPr id="6" name="Picture 3"/>
          <p:cNvPicPr>
            <a:picLocks noChangeAspect="1" noChangeArrowheads="1"/>
          </p:cNvPicPr>
          <p:nvPr/>
        </p:nvPicPr>
        <p:blipFill>
          <a:blip r:embed="rId5"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3968493008"/>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down)">
                                      <p:cBhvr>
                                        <p:cTn id="7" dur="580">
                                          <p:stCondLst>
                                            <p:cond delay="0"/>
                                          </p:stCondLst>
                                        </p:cTn>
                                        <p:tgtEl>
                                          <p:spTgt spid="12290"/>
                                        </p:tgtEl>
                                      </p:cBhvr>
                                    </p:animEffect>
                                    <p:anim calcmode="lin" valueType="num">
                                      <p:cBhvr>
                                        <p:cTn id="8" dur="1822" tmFilter="0,0; 0.14,0.36; 0.43,0.73; 0.71,0.91; 1.0,1.0">
                                          <p:stCondLst>
                                            <p:cond delay="0"/>
                                          </p:stCondLst>
                                        </p:cTn>
                                        <p:tgtEl>
                                          <p:spTgt spid="1229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29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29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29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290"/>
                                        </p:tgtEl>
                                        <p:attrNameLst>
                                          <p:attrName>ppt_y</p:attrName>
                                        </p:attrNameLst>
                                      </p:cBhvr>
                                      <p:tavLst>
                                        <p:tav tm="0" fmla="#ppt_y-sin(pi*$)/81">
                                          <p:val>
                                            <p:fltVal val="0"/>
                                          </p:val>
                                        </p:tav>
                                        <p:tav tm="100000">
                                          <p:val>
                                            <p:fltVal val="1"/>
                                          </p:val>
                                        </p:tav>
                                      </p:tavLst>
                                    </p:anim>
                                    <p:animScale>
                                      <p:cBhvr>
                                        <p:cTn id="13" dur="26">
                                          <p:stCondLst>
                                            <p:cond delay="650"/>
                                          </p:stCondLst>
                                        </p:cTn>
                                        <p:tgtEl>
                                          <p:spTgt spid="12290"/>
                                        </p:tgtEl>
                                      </p:cBhvr>
                                      <p:to x="100000" y="60000"/>
                                    </p:animScale>
                                    <p:animScale>
                                      <p:cBhvr>
                                        <p:cTn id="14" dur="166" decel="50000">
                                          <p:stCondLst>
                                            <p:cond delay="676"/>
                                          </p:stCondLst>
                                        </p:cTn>
                                        <p:tgtEl>
                                          <p:spTgt spid="12290"/>
                                        </p:tgtEl>
                                      </p:cBhvr>
                                      <p:to x="100000" y="100000"/>
                                    </p:animScale>
                                    <p:animScale>
                                      <p:cBhvr>
                                        <p:cTn id="15" dur="26">
                                          <p:stCondLst>
                                            <p:cond delay="1312"/>
                                          </p:stCondLst>
                                        </p:cTn>
                                        <p:tgtEl>
                                          <p:spTgt spid="12290"/>
                                        </p:tgtEl>
                                      </p:cBhvr>
                                      <p:to x="100000" y="80000"/>
                                    </p:animScale>
                                    <p:animScale>
                                      <p:cBhvr>
                                        <p:cTn id="16" dur="166" decel="50000">
                                          <p:stCondLst>
                                            <p:cond delay="1338"/>
                                          </p:stCondLst>
                                        </p:cTn>
                                        <p:tgtEl>
                                          <p:spTgt spid="12290"/>
                                        </p:tgtEl>
                                      </p:cBhvr>
                                      <p:to x="100000" y="100000"/>
                                    </p:animScale>
                                    <p:animScale>
                                      <p:cBhvr>
                                        <p:cTn id="17" dur="26">
                                          <p:stCondLst>
                                            <p:cond delay="1642"/>
                                          </p:stCondLst>
                                        </p:cTn>
                                        <p:tgtEl>
                                          <p:spTgt spid="12290"/>
                                        </p:tgtEl>
                                      </p:cBhvr>
                                      <p:to x="100000" y="90000"/>
                                    </p:animScale>
                                    <p:animScale>
                                      <p:cBhvr>
                                        <p:cTn id="18" dur="166" decel="50000">
                                          <p:stCondLst>
                                            <p:cond delay="1668"/>
                                          </p:stCondLst>
                                        </p:cTn>
                                        <p:tgtEl>
                                          <p:spTgt spid="12290"/>
                                        </p:tgtEl>
                                      </p:cBhvr>
                                      <p:to x="100000" y="100000"/>
                                    </p:animScale>
                                    <p:animScale>
                                      <p:cBhvr>
                                        <p:cTn id="19" dur="26">
                                          <p:stCondLst>
                                            <p:cond delay="1808"/>
                                          </p:stCondLst>
                                        </p:cTn>
                                        <p:tgtEl>
                                          <p:spTgt spid="12290"/>
                                        </p:tgtEl>
                                      </p:cBhvr>
                                      <p:to x="100000" y="95000"/>
                                    </p:animScale>
                                    <p:animScale>
                                      <p:cBhvr>
                                        <p:cTn id="20" dur="166" decel="50000">
                                          <p:stCondLst>
                                            <p:cond delay="1834"/>
                                          </p:stCondLst>
                                        </p:cTn>
                                        <p:tgtEl>
                                          <p:spTgt spid="12290"/>
                                        </p:tgtEl>
                                      </p:cBhvr>
                                      <p:to x="100000" y="100000"/>
                                    </p:animScale>
                                  </p:childTnLst>
                                </p:cTn>
                              </p:par>
                            </p:childTnLst>
                          </p:cTn>
                        </p:par>
                        <p:par>
                          <p:cTn id="21" fill="hold">
                            <p:stCondLst>
                              <p:cond delay="2000"/>
                            </p:stCondLst>
                            <p:childTnLst>
                              <p:par>
                                <p:cTn id="22" presetID="3" presetClass="entr" presetSubtype="10"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CLARIFIER</a:t>
            </a:r>
            <a:endParaRPr lang="en-US"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1066800"/>
            <a:ext cx="4800600" cy="4648200"/>
          </a:xfrm>
          <a:prstGeom prst="rect">
            <a:avLst/>
          </a:prstGeom>
          <a:ln>
            <a:noFill/>
          </a:ln>
          <a:effectLst>
            <a:softEdge rad="112500"/>
          </a:effectLst>
        </p:spPr>
      </p:pic>
      <p:pic>
        <p:nvPicPr>
          <p:cNvPr id="5" name="Picture 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602480" y="1130702"/>
            <a:ext cx="4541520" cy="4584298"/>
          </a:xfrm>
          <a:prstGeom prst="rect">
            <a:avLst/>
          </a:prstGeom>
          <a:ln>
            <a:noFill/>
          </a:ln>
          <a:effectLst>
            <a:softEdge rad="112500"/>
          </a:effectLst>
        </p:spPr>
      </p:pic>
      <p:pic>
        <p:nvPicPr>
          <p:cNvPr id="6" name="Picture 3"/>
          <p:cNvPicPr>
            <a:picLocks noChangeAspect="1" noChangeArrowheads="1"/>
          </p:cNvPicPr>
          <p:nvPr/>
        </p:nvPicPr>
        <p:blipFill>
          <a:blip r:embed="rId4"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31349258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66700"/>
            <a:ext cx="8229600" cy="628650"/>
          </a:xfrm>
        </p:spPr>
        <p:txBody>
          <a:bodyPr>
            <a:normAutofit fontScale="90000"/>
          </a:bodyPr>
          <a:lstStyle/>
          <a:p>
            <a:r>
              <a:rPr lang="en-US" dirty="0" smtClean="0">
                <a:solidFill>
                  <a:srgbClr val="0000FF"/>
                </a:solidFill>
                <a:latin typeface="Aharoni" pitchFamily="2" charset="-79"/>
                <a:cs typeface="Aharoni" pitchFamily="2" charset="-79"/>
              </a:rPr>
              <a:t>Working</a:t>
            </a:r>
            <a:r>
              <a:rPr lang="en-US" sz="3600" b="1" dirty="0" smtClean="0"/>
              <a:t> </a:t>
            </a:r>
            <a:r>
              <a:rPr lang="en-US" dirty="0" smtClean="0">
                <a:solidFill>
                  <a:srgbClr val="0000FF"/>
                </a:solidFill>
                <a:latin typeface="Aharoni" pitchFamily="2" charset="-79"/>
                <a:cs typeface="Aharoni" pitchFamily="2" charset="-79"/>
              </a:rPr>
              <a:t>Principle</a:t>
            </a:r>
          </a:p>
        </p:txBody>
      </p:sp>
      <p:sp>
        <p:nvSpPr>
          <p:cNvPr id="4" name="Content Placeholder 3"/>
          <p:cNvSpPr>
            <a:spLocks noGrp="1"/>
          </p:cNvSpPr>
          <p:nvPr>
            <p:ph idx="1"/>
          </p:nvPr>
        </p:nvSpPr>
        <p:spPr>
          <a:xfrm>
            <a:off x="838200" y="1257300"/>
            <a:ext cx="7924800" cy="4038600"/>
          </a:xfrm>
        </p:spPr>
        <p:txBody>
          <a:bodyPr>
            <a:normAutofit/>
          </a:bodyPr>
          <a:lstStyle/>
          <a:p>
            <a:endParaRPr lang="en-US" sz="2400" dirty="0" smtClean="0">
              <a:latin typeface="Calibri" pitchFamily="34" charset="0"/>
              <a:cs typeface="Calibri" pitchFamily="34" charset="0"/>
            </a:endParaRPr>
          </a:p>
          <a:p>
            <a:r>
              <a:rPr lang="en-US" sz="1800" dirty="0" smtClean="0">
                <a:latin typeface="Bookman Old Style" pitchFamily="18" charset="0"/>
              </a:rPr>
              <a:t>HRSCC  mainly working </a:t>
            </a:r>
            <a:r>
              <a:rPr lang="en-US" sz="1800" dirty="0">
                <a:latin typeface="Bookman Old Style" pitchFamily="18" charset="0"/>
              </a:rPr>
              <a:t>on two basic principle i.e. coagulation, flocculation and hydraulic </a:t>
            </a:r>
            <a:r>
              <a:rPr lang="en-US" sz="1800" dirty="0" smtClean="0">
                <a:latin typeface="Bookman Old Style" pitchFamily="18" charset="0"/>
              </a:rPr>
              <a:t>separation.</a:t>
            </a:r>
          </a:p>
          <a:p>
            <a:r>
              <a:rPr lang="en-US" sz="1800" dirty="0" smtClean="0">
                <a:latin typeface="Bookman Old Style" pitchFamily="18" charset="0"/>
              </a:rPr>
              <a:t>Coagulation and flocculation occurs in flocculation zone by using chemicals</a:t>
            </a:r>
            <a:endParaRPr lang="en-US" sz="1800" dirty="0">
              <a:latin typeface="Bookman Old Style" pitchFamily="18" charset="0"/>
            </a:endParaRPr>
          </a:p>
          <a:p>
            <a:r>
              <a:rPr lang="en-US" sz="1800" dirty="0" smtClean="0">
                <a:latin typeface="Bookman Old Style" pitchFamily="18" charset="0"/>
              </a:rPr>
              <a:t>The </a:t>
            </a:r>
            <a:r>
              <a:rPr lang="en-US" sz="1800" dirty="0">
                <a:latin typeface="Bookman Old Style" pitchFamily="18" charset="0"/>
              </a:rPr>
              <a:t>clarifier has been designed such that coagulation, flocculation, setting and sludge remove are combined in a single tank.</a:t>
            </a:r>
          </a:p>
          <a:p>
            <a:r>
              <a:rPr lang="en-US" sz="1800" dirty="0" smtClean="0">
                <a:latin typeface="Bookman Old Style" pitchFamily="18" charset="0"/>
              </a:rPr>
              <a:t>Remove suspended particles efficiently.</a:t>
            </a:r>
          </a:p>
          <a:p>
            <a:r>
              <a:rPr lang="en-US" sz="1800" dirty="0" smtClean="0">
                <a:latin typeface="Bookman Old Style" pitchFamily="18" charset="0"/>
              </a:rPr>
              <a:t>HRSCC are mainly designed on Rise rate.</a:t>
            </a:r>
            <a:endParaRPr lang="en-US" sz="1800" dirty="0">
              <a:latin typeface="Bookman Old Style" pitchFamily="18" charset="0"/>
            </a:endParaRPr>
          </a:p>
          <a:p>
            <a:endParaRPr lang="en-US" dirty="0" smtClean="0"/>
          </a:p>
        </p:txBody>
      </p:sp>
      <p:pic>
        <p:nvPicPr>
          <p:cNvPr id="5"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2099522465"/>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down)">
                                      <p:cBhvr>
                                        <p:cTn id="7" dur="580">
                                          <p:stCondLst>
                                            <p:cond delay="0"/>
                                          </p:stCondLst>
                                        </p:cTn>
                                        <p:tgtEl>
                                          <p:spTgt spid="13314"/>
                                        </p:tgtEl>
                                      </p:cBhvr>
                                    </p:animEffect>
                                    <p:anim calcmode="lin" valueType="num">
                                      <p:cBhvr>
                                        <p:cTn id="8" dur="1822" tmFilter="0,0; 0.14,0.36; 0.43,0.73; 0.71,0.91; 1.0,1.0">
                                          <p:stCondLst>
                                            <p:cond delay="0"/>
                                          </p:stCondLst>
                                        </p:cTn>
                                        <p:tgtEl>
                                          <p:spTgt spid="1331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31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31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31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314"/>
                                        </p:tgtEl>
                                        <p:attrNameLst>
                                          <p:attrName>ppt_y</p:attrName>
                                        </p:attrNameLst>
                                      </p:cBhvr>
                                      <p:tavLst>
                                        <p:tav tm="0" fmla="#ppt_y-sin(pi*$)/81">
                                          <p:val>
                                            <p:fltVal val="0"/>
                                          </p:val>
                                        </p:tav>
                                        <p:tav tm="100000">
                                          <p:val>
                                            <p:fltVal val="1"/>
                                          </p:val>
                                        </p:tav>
                                      </p:tavLst>
                                    </p:anim>
                                    <p:animScale>
                                      <p:cBhvr>
                                        <p:cTn id="13" dur="26">
                                          <p:stCondLst>
                                            <p:cond delay="650"/>
                                          </p:stCondLst>
                                        </p:cTn>
                                        <p:tgtEl>
                                          <p:spTgt spid="13314"/>
                                        </p:tgtEl>
                                      </p:cBhvr>
                                      <p:to x="100000" y="60000"/>
                                    </p:animScale>
                                    <p:animScale>
                                      <p:cBhvr>
                                        <p:cTn id="14" dur="166" decel="50000">
                                          <p:stCondLst>
                                            <p:cond delay="676"/>
                                          </p:stCondLst>
                                        </p:cTn>
                                        <p:tgtEl>
                                          <p:spTgt spid="13314"/>
                                        </p:tgtEl>
                                      </p:cBhvr>
                                      <p:to x="100000" y="100000"/>
                                    </p:animScale>
                                    <p:animScale>
                                      <p:cBhvr>
                                        <p:cTn id="15" dur="26">
                                          <p:stCondLst>
                                            <p:cond delay="1312"/>
                                          </p:stCondLst>
                                        </p:cTn>
                                        <p:tgtEl>
                                          <p:spTgt spid="13314"/>
                                        </p:tgtEl>
                                      </p:cBhvr>
                                      <p:to x="100000" y="80000"/>
                                    </p:animScale>
                                    <p:animScale>
                                      <p:cBhvr>
                                        <p:cTn id="16" dur="166" decel="50000">
                                          <p:stCondLst>
                                            <p:cond delay="1338"/>
                                          </p:stCondLst>
                                        </p:cTn>
                                        <p:tgtEl>
                                          <p:spTgt spid="13314"/>
                                        </p:tgtEl>
                                      </p:cBhvr>
                                      <p:to x="100000" y="100000"/>
                                    </p:animScale>
                                    <p:animScale>
                                      <p:cBhvr>
                                        <p:cTn id="17" dur="26">
                                          <p:stCondLst>
                                            <p:cond delay="1642"/>
                                          </p:stCondLst>
                                        </p:cTn>
                                        <p:tgtEl>
                                          <p:spTgt spid="13314"/>
                                        </p:tgtEl>
                                      </p:cBhvr>
                                      <p:to x="100000" y="90000"/>
                                    </p:animScale>
                                    <p:animScale>
                                      <p:cBhvr>
                                        <p:cTn id="18" dur="166" decel="50000">
                                          <p:stCondLst>
                                            <p:cond delay="1668"/>
                                          </p:stCondLst>
                                        </p:cTn>
                                        <p:tgtEl>
                                          <p:spTgt spid="13314"/>
                                        </p:tgtEl>
                                      </p:cBhvr>
                                      <p:to x="100000" y="100000"/>
                                    </p:animScale>
                                    <p:animScale>
                                      <p:cBhvr>
                                        <p:cTn id="19" dur="26">
                                          <p:stCondLst>
                                            <p:cond delay="1808"/>
                                          </p:stCondLst>
                                        </p:cTn>
                                        <p:tgtEl>
                                          <p:spTgt spid="13314"/>
                                        </p:tgtEl>
                                      </p:cBhvr>
                                      <p:to x="100000" y="95000"/>
                                    </p:animScale>
                                    <p:animScale>
                                      <p:cBhvr>
                                        <p:cTn id="20" dur="166" decel="50000">
                                          <p:stCondLst>
                                            <p:cond delay="1834"/>
                                          </p:stCondLst>
                                        </p:cTn>
                                        <p:tgtEl>
                                          <p:spTgt spid="133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28866"/>
            <a:ext cx="8229600" cy="664104"/>
          </a:xfrm>
        </p:spPr>
        <p:txBody>
          <a:bodyPr>
            <a:normAutofit fontScale="90000"/>
          </a:bodyPr>
          <a:lstStyle/>
          <a:p>
            <a:r>
              <a:rPr lang="en-US" dirty="0" smtClean="0">
                <a:solidFill>
                  <a:srgbClr val="0000FF"/>
                </a:solidFill>
                <a:latin typeface="Aharoni" pitchFamily="2" charset="-79"/>
                <a:cs typeface="Aharoni" pitchFamily="2" charset="-79"/>
              </a:rPr>
              <a:t>FILTRATION</a:t>
            </a:r>
          </a:p>
        </p:txBody>
      </p:sp>
      <p:sp>
        <p:nvSpPr>
          <p:cNvPr id="13315" name="Content Placeholder 2"/>
          <p:cNvSpPr>
            <a:spLocks noGrp="1"/>
          </p:cNvSpPr>
          <p:nvPr>
            <p:ph idx="1"/>
          </p:nvPr>
        </p:nvSpPr>
        <p:spPr>
          <a:xfrm>
            <a:off x="457200" y="1333500"/>
            <a:ext cx="8229600" cy="3571875"/>
          </a:xfrm>
        </p:spPr>
        <p:txBody>
          <a:bodyPr/>
          <a:lstStyle/>
          <a:p>
            <a:pPr>
              <a:buFontTx/>
              <a:buNone/>
            </a:pPr>
            <a:r>
              <a:rPr lang="en-US" sz="2800" dirty="0" smtClean="0">
                <a:latin typeface="Calibri" pitchFamily="34" charset="0"/>
                <a:cs typeface="Calibri" pitchFamily="34" charset="0"/>
              </a:rPr>
              <a:t>     A typical filter consists of a pressure vessel-this could be either vertical or horizontal-fitted with a set of frontal pipe work and valves, graded sand supported by layers of graded under bed consisting of pebbles and Sand, a top distributor to distribute the incoming water uniformly throughout the cross section of the filter, and an under drain system to collect filtered water.</a:t>
            </a:r>
          </a:p>
          <a:p>
            <a:endParaRPr lang="en-US" dirty="0" smtClean="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2914632906"/>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down)">
                                      <p:cBhvr>
                                        <p:cTn id="7" dur="580">
                                          <p:stCondLst>
                                            <p:cond delay="0"/>
                                          </p:stCondLst>
                                        </p:cTn>
                                        <p:tgtEl>
                                          <p:spTgt spid="13314"/>
                                        </p:tgtEl>
                                      </p:cBhvr>
                                    </p:animEffect>
                                    <p:anim calcmode="lin" valueType="num">
                                      <p:cBhvr>
                                        <p:cTn id="8" dur="1822" tmFilter="0,0; 0.14,0.36; 0.43,0.73; 0.71,0.91; 1.0,1.0">
                                          <p:stCondLst>
                                            <p:cond delay="0"/>
                                          </p:stCondLst>
                                        </p:cTn>
                                        <p:tgtEl>
                                          <p:spTgt spid="1331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31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31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31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314"/>
                                        </p:tgtEl>
                                        <p:attrNameLst>
                                          <p:attrName>ppt_y</p:attrName>
                                        </p:attrNameLst>
                                      </p:cBhvr>
                                      <p:tavLst>
                                        <p:tav tm="0" fmla="#ppt_y-sin(pi*$)/81">
                                          <p:val>
                                            <p:fltVal val="0"/>
                                          </p:val>
                                        </p:tav>
                                        <p:tav tm="100000">
                                          <p:val>
                                            <p:fltVal val="1"/>
                                          </p:val>
                                        </p:tav>
                                      </p:tavLst>
                                    </p:anim>
                                    <p:animScale>
                                      <p:cBhvr>
                                        <p:cTn id="13" dur="26">
                                          <p:stCondLst>
                                            <p:cond delay="650"/>
                                          </p:stCondLst>
                                        </p:cTn>
                                        <p:tgtEl>
                                          <p:spTgt spid="13314"/>
                                        </p:tgtEl>
                                      </p:cBhvr>
                                      <p:to x="100000" y="60000"/>
                                    </p:animScale>
                                    <p:animScale>
                                      <p:cBhvr>
                                        <p:cTn id="14" dur="166" decel="50000">
                                          <p:stCondLst>
                                            <p:cond delay="676"/>
                                          </p:stCondLst>
                                        </p:cTn>
                                        <p:tgtEl>
                                          <p:spTgt spid="13314"/>
                                        </p:tgtEl>
                                      </p:cBhvr>
                                      <p:to x="100000" y="100000"/>
                                    </p:animScale>
                                    <p:animScale>
                                      <p:cBhvr>
                                        <p:cTn id="15" dur="26">
                                          <p:stCondLst>
                                            <p:cond delay="1312"/>
                                          </p:stCondLst>
                                        </p:cTn>
                                        <p:tgtEl>
                                          <p:spTgt spid="13314"/>
                                        </p:tgtEl>
                                      </p:cBhvr>
                                      <p:to x="100000" y="80000"/>
                                    </p:animScale>
                                    <p:animScale>
                                      <p:cBhvr>
                                        <p:cTn id="16" dur="166" decel="50000">
                                          <p:stCondLst>
                                            <p:cond delay="1338"/>
                                          </p:stCondLst>
                                        </p:cTn>
                                        <p:tgtEl>
                                          <p:spTgt spid="13314"/>
                                        </p:tgtEl>
                                      </p:cBhvr>
                                      <p:to x="100000" y="100000"/>
                                    </p:animScale>
                                    <p:animScale>
                                      <p:cBhvr>
                                        <p:cTn id="17" dur="26">
                                          <p:stCondLst>
                                            <p:cond delay="1642"/>
                                          </p:stCondLst>
                                        </p:cTn>
                                        <p:tgtEl>
                                          <p:spTgt spid="13314"/>
                                        </p:tgtEl>
                                      </p:cBhvr>
                                      <p:to x="100000" y="90000"/>
                                    </p:animScale>
                                    <p:animScale>
                                      <p:cBhvr>
                                        <p:cTn id="18" dur="166" decel="50000">
                                          <p:stCondLst>
                                            <p:cond delay="1668"/>
                                          </p:stCondLst>
                                        </p:cTn>
                                        <p:tgtEl>
                                          <p:spTgt spid="13314"/>
                                        </p:tgtEl>
                                      </p:cBhvr>
                                      <p:to x="100000" y="100000"/>
                                    </p:animScale>
                                    <p:animScale>
                                      <p:cBhvr>
                                        <p:cTn id="19" dur="26">
                                          <p:stCondLst>
                                            <p:cond delay="1808"/>
                                          </p:stCondLst>
                                        </p:cTn>
                                        <p:tgtEl>
                                          <p:spTgt spid="13314"/>
                                        </p:tgtEl>
                                      </p:cBhvr>
                                      <p:to x="100000" y="95000"/>
                                    </p:animScale>
                                    <p:animScale>
                                      <p:cBhvr>
                                        <p:cTn id="20" dur="166" decel="50000">
                                          <p:stCondLst>
                                            <p:cond delay="1834"/>
                                          </p:stCondLst>
                                        </p:cTn>
                                        <p:tgtEl>
                                          <p:spTgt spid="13314"/>
                                        </p:tgtEl>
                                      </p:cBhvr>
                                      <p:to x="100000" y="100000"/>
                                    </p:animScale>
                                  </p:childTnLst>
                                </p:cTn>
                              </p:par>
                            </p:childTnLst>
                          </p:cTn>
                        </p:par>
                        <p:par>
                          <p:cTn id="21" fill="hold" nodeType="afterGroup">
                            <p:stCondLst>
                              <p:cond delay="2000"/>
                            </p:stCondLst>
                            <p:childTnLst>
                              <p:par>
                                <p:cTn id="22" presetID="12" presetClass="entr" presetSubtype="4" fill="hold" grpId="0" nodeType="afterEffect">
                                  <p:stCondLst>
                                    <p:cond delay="0"/>
                                  </p:stCondLst>
                                  <p:childTnLst>
                                    <p:set>
                                      <p:cBhvr>
                                        <p:cTn id="23" dur="1" fill="hold">
                                          <p:stCondLst>
                                            <p:cond delay="0"/>
                                          </p:stCondLst>
                                        </p:cTn>
                                        <p:tgtEl>
                                          <p:spTgt spid="13315">
                                            <p:txEl>
                                              <p:pRg st="0" end="0"/>
                                            </p:txEl>
                                          </p:spTgt>
                                        </p:tgtEl>
                                        <p:attrNameLst>
                                          <p:attrName>style.visibility</p:attrName>
                                        </p:attrNameLst>
                                      </p:cBhvr>
                                      <p:to>
                                        <p:strVal val="visible"/>
                                      </p:to>
                                    </p:set>
                                    <p:animEffect transition="in" filter="slide(fromBottom)">
                                      <p:cBhvr>
                                        <p:cTn id="24" dur="500"/>
                                        <p:tgtEl>
                                          <p:spTgt spid="133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1331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266700"/>
            <a:ext cx="8229600" cy="628650"/>
          </a:xfrm>
        </p:spPr>
        <p:txBody>
          <a:bodyPr>
            <a:normAutofit fontScale="90000"/>
          </a:bodyPr>
          <a:lstStyle/>
          <a:p>
            <a:r>
              <a:rPr lang="en-US" dirty="0" smtClean="0">
                <a:solidFill>
                  <a:srgbClr val="0000FF"/>
                </a:solidFill>
                <a:latin typeface="Aharoni" pitchFamily="2" charset="-79"/>
                <a:cs typeface="Aharoni" pitchFamily="2" charset="-79"/>
              </a:rPr>
              <a:t>Working</a:t>
            </a:r>
            <a:r>
              <a:rPr lang="en-US" sz="3600" b="1" dirty="0" smtClean="0"/>
              <a:t> </a:t>
            </a:r>
            <a:r>
              <a:rPr lang="en-US" dirty="0" smtClean="0">
                <a:solidFill>
                  <a:srgbClr val="0000FF"/>
                </a:solidFill>
                <a:latin typeface="Aharoni" pitchFamily="2" charset="-79"/>
                <a:cs typeface="Aharoni" pitchFamily="2" charset="-79"/>
              </a:rPr>
              <a:t>Principle</a:t>
            </a:r>
          </a:p>
        </p:txBody>
      </p:sp>
      <p:sp>
        <p:nvSpPr>
          <p:cNvPr id="4" name="Content Placeholder 3"/>
          <p:cNvSpPr>
            <a:spLocks noGrp="1"/>
          </p:cNvSpPr>
          <p:nvPr>
            <p:ph idx="1"/>
          </p:nvPr>
        </p:nvSpPr>
        <p:spPr>
          <a:xfrm>
            <a:off x="838200" y="1257300"/>
            <a:ext cx="7772400" cy="3847836"/>
          </a:xfrm>
        </p:spPr>
        <p:txBody>
          <a:bodyPr>
            <a:normAutofit fontScale="92500" lnSpcReduction="10000"/>
          </a:bodyPr>
          <a:lstStyle/>
          <a:p>
            <a:r>
              <a:rPr lang="en-US" sz="2400" dirty="0" smtClean="0">
                <a:latin typeface="Calibri" pitchFamily="34" charset="0"/>
                <a:cs typeface="Calibri" pitchFamily="34" charset="0"/>
              </a:rPr>
              <a:t>In pressure sand filter raw water flows down through the filter bed and as the suspended matter is retained on the sand surface. </a:t>
            </a:r>
          </a:p>
          <a:p>
            <a:r>
              <a:rPr lang="en-US" sz="2400" dirty="0" smtClean="0">
                <a:latin typeface="Calibri" pitchFamily="34" charset="0"/>
                <a:cs typeface="Calibri" pitchFamily="34" charset="0"/>
              </a:rPr>
              <a:t>There is flow reduction once the pressure drop across the filter is excessive. The filter is now taken out of service and cleaning of the filter is effected by flow reversal. </a:t>
            </a:r>
          </a:p>
          <a:p>
            <a:r>
              <a:rPr lang="en-US" sz="2400" dirty="0" smtClean="0">
                <a:latin typeface="Calibri" pitchFamily="34" charset="0"/>
                <a:cs typeface="Calibri" pitchFamily="34" charset="0"/>
              </a:rPr>
              <a:t>To assist in cleaning the bed, the backwash operation is often preceded by air agitation through the under drain system. </a:t>
            </a:r>
          </a:p>
          <a:p>
            <a:r>
              <a:rPr lang="en-US" sz="2400" dirty="0" smtClean="0">
                <a:latin typeface="Calibri" pitchFamily="34" charset="0"/>
                <a:cs typeface="Calibri" pitchFamily="34" charset="0"/>
              </a:rPr>
              <a:t>The process of air scouring agitates the sand with a scrubbing action, which loosen the intercepted particles. </a:t>
            </a:r>
          </a:p>
          <a:p>
            <a:r>
              <a:rPr lang="en-US" sz="2400" dirty="0" smtClean="0">
                <a:latin typeface="Calibri" pitchFamily="34" charset="0"/>
                <a:cs typeface="Calibri" pitchFamily="34" charset="0"/>
              </a:rPr>
              <a:t>The filter is now ready to be put back into service.</a:t>
            </a:r>
          </a:p>
          <a:p>
            <a:endParaRPr lang="en-US" sz="2800" dirty="0" smtClean="0"/>
          </a:p>
          <a:p>
            <a:endParaRPr lang="en-US" dirty="0" smtClean="0"/>
          </a:p>
        </p:txBody>
      </p:sp>
      <p:pic>
        <p:nvPicPr>
          <p:cNvPr id="5"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1170381483"/>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down)">
                                      <p:cBhvr>
                                        <p:cTn id="7" dur="580">
                                          <p:stCondLst>
                                            <p:cond delay="0"/>
                                          </p:stCondLst>
                                        </p:cTn>
                                        <p:tgtEl>
                                          <p:spTgt spid="13314"/>
                                        </p:tgtEl>
                                      </p:cBhvr>
                                    </p:animEffect>
                                    <p:anim calcmode="lin" valueType="num">
                                      <p:cBhvr>
                                        <p:cTn id="8" dur="1822" tmFilter="0,0; 0.14,0.36; 0.43,0.73; 0.71,0.91; 1.0,1.0">
                                          <p:stCondLst>
                                            <p:cond delay="0"/>
                                          </p:stCondLst>
                                        </p:cTn>
                                        <p:tgtEl>
                                          <p:spTgt spid="1331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31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31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31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314"/>
                                        </p:tgtEl>
                                        <p:attrNameLst>
                                          <p:attrName>ppt_y</p:attrName>
                                        </p:attrNameLst>
                                      </p:cBhvr>
                                      <p:tavLst>
                                        <p:tav tm="0" fmla="#ppt_y-sin(pi*$)/81">
                                          <p:val>
                                            <p:fltVal val="0"/>
                                          </p:val>
                                        </p:tav>
                                        <p:tav tm="100000">
                                          <p:val>
                                            <p:fltVal val="1"/>
                                          </p:val>
                                        </p:tav>
                                      </p:tavLst>
                                    </p:anim>
                                    <p:animScale>
                                      <p:cBhvr>
                                        <p:cTn id="13" dur="26">
                                          <p:stCondLst>
                                            <p:cond delay="650"/>
                                          </p:stCondLst>
                                        </p:cTn>
                                        <p:tgtEl>
                                          <p:spTgt spid="13314"/>
                                        </p:tgtEl>
                                      </p:cBhvr>
                                      <p:to x="100000" y="60000"/>
                                    </p:animScale>
                                    <p:animScale>
                                      <p:cBhvr>
                                        <p:cTn id="14" dur="166" decel="50000">
                                          <p:stCondLst>
                                            <p:cond delay="676"/>
                                          </p:stCondLst>
                                        </p:cTn>
                                        <p:tgtEl>
                                          <p:spTgt spid="13314"/>
                                        </p:tgtEl>
                                      </p:cBhvr>
                                      <p:to x="100000" y="100000"/>
                                    </p:animScale>
                                    <p:animScale>
                                      <p:cBhvr>
                                        <p:cTn id="15" dur="26">
                                          <p:stCondLst>
                                            <p:cond delay="1312"/>
                                          </p:stCondLst>
                                        </p:cTn>
                                        <p:tgtEl>
                                          <p:spTgt spid="13314"/>
                                        </p:tgtEl>
                                      </p:cBhvr>
                                      <p:to x="100000" y="80000"/>
                                    </p:animScale>
                                    <p:animScale>
                                      <p:cBhvr>
                                        <p:cTn id="16" dur="166" decel="50000">
                                          <p:stCondLst>
                                            <p:cond delay="1338"/>
                                          </p:stCondLst>
                                        </p:cTn>
                                        <p:tgtEl>
                                          <p:spTgt spid="13314"/>
                                        </p:tgtEl>
                                      </p:cBhvr>
                                      <p:to x="100000" y="100000"/>
                                    </p:animScale>
                                    <p:animScale>
                                      <p:cBhvr>
                                        <p:cTn id="17" dur="26">
                                          <p:stCondLst>
                                            <p:cond delay="1642"/>
                                          </p:stCondLst>
                                        </p:cTn>
                                        <p:tgtEl>
                                          <p:spTgt spid="13314"/>
                                        </p:tgtEl>
                                      </p:cBhvr>
                                      <p:to x="100000" y="90000"/>
                                    </p:animScale>
                                    <p:animScale>
                                      <p:cBhvr>
                                        <p:cTn id="18" dur="166" decel="50000">
                                          <p:stCondLst>
                                            <p:cond delay="1668"/>
                                          </p:stCondLst>
                                        </p:cTn>
                                        <p:tgtEl>
                                          <p:spTgt spid="13314"/>
                                        </p:tgtEl>
                                      </p:cBhvr>
                                      <p:to x="100000" y="100000"/>
                                    </p:animScale>
                                    <p:animScale>
                                      <p:cBhvr>
                                        <p:cTn id="19" dur="26">
                                          <p:stCondLst>
                                            <p:cond delay="1808"/>
                                          </p:stCondLst>
                                        </p:cTn>
                                        <p:tgtEl>
                                          <p:spTgt spid="13314"/>
                                        </p:tgtEl>
                                      </p:cBhvr>
                                      <p:to x="100000" y="95000"/>
                                    </p:animScale>
                                    <p:animScale>
                                      <p:cBhvr>
                                        <p:cTn id="20" dur="166" decel="50000">
                                          <p:stCondLst>
                                            <p:cond delay="1834"/>
                                          </p:stCondLst>
                                        </p:cTn>
                                        <p:tgtEl>
                                          <p:spTgt spid="13314"/>
                                        </p:tgtEl>
                                      </p:cBhvr>
                                      <p:to x="100000" y="100000"/>
                                    </p:animScale>
                                  </p:childTnLst>
                                </p:cTn>
                              </p:par>
                            </p:childTnLst>
                          </p:cTn>
                        </p:par>
                        <p:par>
                          <p:cTn id="21" fill="hold" nodeType="afterGroup">
                            <p:stCondLst>
                              <p:cond delay="2000"/>
                            </p:stCondLst>
                            <p:childTnLst>
                              <p:par>
                                <p:cTn id="22" presetID="12" presetClass="entr" presetSubtype="4" fill="hold" grpId="0" nodeType="after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Effect transition="in" filter="slide(fromBottom)">
                                      <p:cBhvr>
                                        <p:cTn id="24" dur="500"/>
                                        <p:tgtEl>
                                          <p:spTgt spid="4">
                                            <p:txEl>
                                              <p:pRg st="0" end="0"/>
                                            </p:txEl>
                                          </p:spTgt>
                                        </p:tgtEl>
                                      </p:cBhvr>
                                    </p:animEffect>
                                  </p:childTnLst>
                                </p:cTn>
                              </p:par>
                            </p:childTnLst>
                          </p:cTn>
                        </p:par>
                        <p:par>
                          <p:cTn id="25" fill="hold" nodeType="afterGroup">
                            <p:stCondLst>
                              <p:cond delay="2500"/>
                            </p:stCondLst>
                            <p:childTnLst>
                              <p:par>
                                <p:cTn id="26" presetID="12" presetClass="entr" presetSubtype="4" fill="hold" grpId="0" nodeType="after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slide(fromBottom)">
                                      <p:cBhvr>
                                        <p:cTn id="28" dur="500"/>
                                        <p:tgtEl>
                                          <p:spTgt spid="4">
                                            <p:txEl>
                                              <p:pRg st="1" end="1"/>
                                            </p:txEl>
                                          </p:spTgt>
                                        </p:tgtEl>
                                      </p:cBhvr>
                                    </p:animEffect>
                                  </p:childTnLst>
                                </p:cTn>
                              </p:par>
                            </p:childTnLst>
                          </p:cTn>
                        </p:par>
                        <p:par>
                          <p:cTn id="29" fill="hold" nodeType="afterGroup">
                            <p:stCondLst>
                              <p:cond delay="3000"/>
                            </p:stCondLst>
                            <p:childTnLst>
                              <p:par>
                                <p:cTn id="30" presetID="12" presetClass="entr" presetSubtype="4" fill="hold" grpId="0" nodeType="after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slide(fromBottom)">
                                      <p:cBhvr>
                                        <p:cTn id="32" dur="500"/>
                                        <p:tgtEl>
                                          <p:spTgt spid="4">
                                            <p:txEl>
                                              <p:pRg st="2" end="2"/>
                                            </p:txEl>
                                          </p:spTgt>
                                        </p:tgtEl>
                                      </p:cBhvr>
                                    </p:animEffect>
                                  </p:childTnLst>
                                </p:cTn>
                              </p:par>
                            </p:childTnLst>
                          </p:cTn>
                        </p:par>
                        <p:par>
                          <p:cTn id="33" fill="hold" nodeType="afterGroup">
                            <p:stCondLst>
                              <p:cond delay="3500"/>
                            </p:stCondLst>
                            <p:childTnLst>
                              <p:par>
                                <p:cTn id="34" presetID="12" presetClass="entr" presetSubtype="4" fill="hold" grpId="0" nodeType="afterEffect">
                                  <p:stCondLst>
                                    <p:cond delay="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slide(fromBottom)">
                                      <p:cBhvr>
                                        <p:cTn id="36" dur="500"/>
                                        <p:tgtEl>
                                          <p:spTgt spid="4">
                                            <p:txEl>
                                              <p:pRg st="3" end="3"/>
                                            </p:txEl>
                                          </p:spTgt>
                                        </p:tgtEl>
                                      </p:cBhvr>
                                    </p:animEffect>
                                  </p:childTnLst>
                                </p:cTn>
                              </p:par>
                            </p:childTnLst>
                          </p:cTn>
                        </p:par>
                        <p:par>
                          <p:cTn id="37" fill="hold" nodeType="afterGroup">
                            <p:stCondLst>
                              <p:cond delay="4000"/>
                            </p:stCondLst>
                            <p:childTnLst>
                              <p:par>
                                <p:cTn id="38" presetID="12" presetClass="entr" presetSubtype="4" fill="hold" grpId="0" nodeType="afterEffect">
                                  <p:stCondLst>
                                    <p:cond delay="0"/>
                                  </p:stCondLst>
                                  <p:childTnLst>
                                    <p:set>
                                      <p:cBhvr>
                                        <p:cTn id="39" dur="1" fill="hold">
                                          <p:stCondLst>
                                            <p:cond delay="0"/>
                                          </p:stCondLst>
                                        </p:cTn>
                                        <p:tgtEl>
                                          <p:spTgt spid="4">
                                            <p:txEl>
                                              <p:pRg st="4" end="4"/>
                                            </p:txEl>
                                          </p:spTgt>
                                        </p:tgtEl>
                                        <p:attrNameLst>
                                          <p:attrName>style.visibility</p:attrName>
                                        </p:attrNameLst>
                                      </p:cBhvr>
                                      <p:to>
                                        <p:strVal val="visible"/>
                                      </p:to>
                                    </p:set>
                                    <p:animEffect transition="in" filter="slide(fromBottom)">
                                      <p:cBhvr>
                                        <p:cTn id="40"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143000" y="114300"/>
            <a:ext cx="7010400" cy="833438"/>
          </a:xfrm>
        </p:spPr>
        <p:txBody>
          <a:bodyPr/>
          <a:lstStyle/>
          <a:p>
            <a:r>
              <a:rPr lang="en-US" dirty="0" smtClean="0">
                <a:solidFill>
                  <a:srgbClr val="0000FF"/>
                </a:solidFill>
                <a:latin typeface="Aharoni" pitchFamily="2" charset="-79"/>
                <a:cs typeface="Aharoni" pitchFamily="2" charset="-79"/>
              </a:rPr>
              <a:t>       </a:t>
            </a:r>
            <a:r>
              <a:rPr lang="en-US" dirty="0" smtClean="0">
                <a:solidFill>
                  <a:schemeClr val="tx1"/>
                </a:solidFill>
                <a:latin typeface="Aharoni" pitchFamily="2" charset="-79"/>
                <a:cs typeface="Aharoni" pitchFamily="2" charset="-79"/>
              </a:rPr>
              <a:t>PRESSURE SAND FILTER</a:t>
            </a:r>
          </a:p>
        </p:txBody>
      </p:sp>
      <p:pic>
        <p:nvPicPr>
          <p:cNvPr id="4" name="Content Placeholder 3"/>
          <p:cNvPicPr>
            <a:picLocks noGrp="1"/>
          </p:cNvPicPr>
          <p:nvPr>
            <p:ph idx="1"/>
          </p:nvPr>
        </p:nvPicPr>
        <p:blipFill>
          <a:blip r:embed="rId2">
            <a:extLst>
              <a:ext uri="{28A0092B-C50C-407E-A947-70E740481C1C}">
                <a14:useLocalDpi xmlns:a14="http://schemas.microsoft.com/office/drawing/2010/main" xmlns="" val="0"/>
              </a:ext>
            </a:extLst>
          </a:blip>
          <a:srcRect/>
          <a:stretch>
            <a:fillRect/>
          </a:stretch>
        </p:blipFill>
        <p:spPr>
          <a:xfrm>
            <a:off x="0" y="1181100"/>
            <a:ext cx="4876800" cy="4533900"/>
          </a:xfrm>
        </p:spPr>
      </p:pic>
      <p:pic>
        <p:nvPicPr>
          <p:cNvPr id="6" name="Picture 3"/>
          <p:cNvPicPr>
            <a:picLocks noChangeAspect="1" noChangeArrowheads="1"/>
          </p:cNvPicPr>
          <p:nvPr/>
        </p:nvPicPr>
        <p:blipFill>
          <a:blip r:embed="rId3" cstate="print"/>
          <a:srcRect/>
          <a:stretch>
            <a:fillRect/>
          </a:stretch>
        </p:blipFill>
        <p:spPr bwMode="auto">
          <a:xfrm>
            <a:off x="533400" y="114300"/>
            <a:ext cx="889825" cy="838200"/>
          </a:xfrm>
          <a:prstGeom prst="rect">
            <a:avLst/>
          </a:prstGeom>
          <a:noFill/>
          <a:ln w="9525">
            <a:noFill/>
            <a:miter lim="800000"/>
            <a:headEnd/>
            <a:tailEnd/>
          </a:ln>
          <a:effectLst/>
        </p:spPr>
      </p:pic>
      <p:pic>
        <p:nvPicPr>
          <p:cNvPr id="9" name="Picture 8" descr="F:\W.T.PLANT PHOTO\IMG-20141205-WA0036.jpg"/>
          <p:cNvPicPr/>
          <p:nvPr/>
        </p:nvPicPr>
        <p:blipFill>
          <a:blip r:embed="rId4"/>
          <a:srcRect/>
          <a:stretch>
            <a:fillRect/>
          </a:stretch>
        </p:blipFill>
        <p:spPr bwMode="auto">
          <a:xfrm>
            <a:off x="4343400" y="1104901"/>
            <a:ext cx="4648200" cy="2209800"/>
          </a:xfrm>
          <a:prstGeom prst="rect">
            <a:avLst/>
          </a:prstGeom>
          <a:noFill/>
          <a:ln w="9525">
            <a:noFill/>
            <a:miter lim="800000"/>
            <a:headEnd/>
            <a:tailEnd/>
          </a:ln>
        </p:spPr>
      </p:pic>
      <p:pic>
        <p:nvPicPr>
          <p:cNvPr id="10" name="Picture 9" descr="F:\SURESH CHIKTE\Website material\Selected image.jpg 001.jpg"/>
          <p:cNvPicPr/>
          <p:nvPr/>
        </p:nvPicPr>
        <p:blipFill>
          <a:blip r:embed="rId5" cstate="print"/>
          <a:srcRect/>
          <a:stretch>
            <a:fillRect/>
          </a:stretch>
        </p:blipFill>
        <p:spPr bwMode="auto">
          <a:xfrm>
            <a:off x="4343400" y="3314700"/>
            <a:ext cx="4648200" cy="2400300"/>
          </a:xfrm>
          <a:prstGeom prst="rect">
            <a:avLst/>
          </a:prstGeom>
          <a:noFill/>
          <a:ln w="9525">
            <a:noFill/>
            <a:miter lim="800000"/>
            <a:headEnd/>
            <a:tailEnd/>
          </a:ln>
        </p:spPr>
      </p:pic>
    </p:spTree>
    <p:extLst>
      <p:ext uri="{BB962C8B-B14F-4D97-AF65-F5344CB8AC3E}">
        <p14:creationId xmlns:p14="http://schemas.microsoft.com/office/powerpoint/2010/main" xmlns="" val="238436149"/>
      </p:ext>
    </p:extLst>
  </p:cSld>
  <p:clrMapOvr>
    <a:masterClrMapping/>
  </p:clrMapOvr>
  <p:transition advClick="0" advTm="30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wipe(down)">
                                      <p:cBhvr>
                                        <p:cTn id="7" dur="580">
                                          <p:stCondLst>
                                            <p:cond delay="0"/>
                                          </p:stCondLst>
                                        </p:cTn>
                                        <p:tgtEl>
                                          <p:spTgt spid="13314"/>
                                        </p:tgtEl>
                                      </p:cBhvr>
                                    </p:animEffect>
                                    <p:anim calcmode="lin" valueType="num">
                                      <p:cBhvr>
                                        <p:cTn id="8" dur="1822" tmFilter="0,0; 0.14,0.36; 0.43,0.73; 0.71,0.91; 1.0,1.0">
                                          <p:stCondLst>
                                            <p:cond delay="0"/>
                                          </p:stCondLst>
                                        </p:cTn>
                                        <p:tgtEl>
                                          <p:spTgt spid="1331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331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331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331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3314"/>
                                        </p:tgtEl>
                                        <p:attrNameLst>
                                          <p:attrName>ppt_y</p:attrName>
                                        </p:attrNameLst>
                                      </p:cBhvr>
                                      <p:tavLst>
                                        <p:tav tm="0" fmla="#ppt_y-sin(pi*$)/81">
                                          <p:val>
                                            <p:fltVal val="0"/>
                                          </p:val>
                                        </p:tav>
                                        <p:tav tm="100000">
                                          <p:val>
                                            <p:fltVal val="1"/>
                                          </p:val>
                                        </p:tav>
                                      </p:tavLst>
                                    </p:anim>
                                    <p:animScale>
                                      <p:cBhvr>
                                        <p:cTn id="13" dur="26">
                                          <p:stCondLst>
                                            <p:cond delay="650"/>
                                          </p:stCondLst>
                                        </p:cTn>
                                        <p:tgtEl>
                                          <p:spTgt spid="13314"/>
                                        </p:tgtEl>
                                      </p:cBhvr>
                                      <p:to x="100000" y="60000"/>
                                    </p:animScale>
                                    <p:animScale>
                                      <p:cBhvr>
                                        <p:cTn id="14" dur="166" decel="50000">
                                          <p:stCondLst>
                                            <p:cond delay="676"/>
                                          </p:stCondLst>
                                        </p:cTn>
                                        <p:tgtEl>
                                          <p:spTgt spid="13314"/>
                                        </p:tgtEl>
                                      </p:cBhvr>
                                      <p:to x="100000" y="100000"/>
                                    </p:animScale>
                                    <p:animScale>
                                      <p:cBhvr>
                                        <p:cTn id="15" dur="26">
                                          <p:stCondLst>
                                            <p:cond delay="1312"/>
                                          </p:stCondLst>
                                        </p:cTn>
                                        <p:tgtEl>
                                          <p:spTgt spid="13314"/>
                                        </p:tgtEl>
                                      </p:cBhvr>
                                      <p:to x="100000" y="80000"/>
                                    </p:animScale>
                                    <p:animScale>
                                      <p:cBhvr>
                                        <p:cTn id="16" dur="166" decel="50000">
                                          <p:stCondLst>
                                            <p:cond delay="1338"/>
                                          </p:stCondLst>
                                        </p:cTn>
                                        <p:tgtEl>
                                          <p:spTgt spid="13314"/>
                                        </p:tgtEl>
                                      </p:cBhvr>
                                      <p:to x="100000" y="100000"/>
                                    </p:animScale>
                                    <p:animScale>
                                      <p:cBhvr>
                                        <p:cTn id="17" dur="26">
                                          <p:stCondLst>
                                            <p:cond delay="1642"/>
                                          </p:stCondLst>
                                        </p:cTn>
                                        <p:tgtEl>
                                          <p:spTgt spid="13314"/>
                                        </p:tgtEl>
                                      </p:cBhvr>
                                      <p:to x="100000" y="90000"/>
                                    </p:animScale>
                                    <p:animScale>
                                      <p:cBhvr>
                                        <p:cTn id="18" dur="166" decel="50000">
                                          <p:stCondLst>
                                            <p:cond delay="1668"/>
                                          </p:stCondLst>
                                        </p:cTn>
                                        <p:tgtEl>
                                          <p:spTgt spid="13314"/>
                                        </p:tgtEl>
                                      </p:cBhvr>
                                      <p:to x="100000" y="100000"/>
                                    </p:animScale>
                                    <p:animScale>
                                      <p:cBhvr>
                                        <p:cTn id="19" dur="26">
                                          <p:stCondLst>
                                            <p:cond delay="1808"/>
                                          </p:stCondLst>
                                        </p:cTn>
                                        <p:tgtEl>
                                          <p:spTgt spid="13314"/>
                                        </p:tgtEl>
                                      </p:cBhvr>
                                      <p:to x="100000" y="95000"/>
                                    </p:animScale>
                                    <p:animScale>
                                      <p:cBhvr>
                                        <p:cTn id="20" dur="166" decel="50000">
                                          <p:stCondLst>
                                            <p:cond delay="1834"/>
                                          </p:stCondLst>
                                        </p:cTn>
                                        <p:tgtEl>
                                          <p:spTgt spid="13314"/>
                                        </p:tgtEl>
                                      </p:cBhvr>
                                      <p:to x="100000" y="100000"/>
                                    </p:animScale>
                                  </p:childTnLst>
                                </p:cTn>
                              </p:par>
                            </p:childTnLst>
                          </p:cTn>
                        </p:par>
                        <p:par>
                          <p:cTn id="21" fill="hold" nodeType="afterGroup">
                            <p:stCondLst>
                              <p:cond delay="2000"/>
                            </p:stCondLst>
                            <p:childTnLst>
                              <p:par>
                                <p:cTn id="22" presetID="3" presetClass="entr" presetSubtype="1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00FF"/>
                </a:solidFill>
              </a:rPr>
              <a:t>SLUDGE MANAGEMENT</a:t>
            </a:r>
            <a:endParaRPr lang="en-US" dirty="0">
              <a:solidFill>
                <a:srgbClr val="0000FF"/>
              </a:solidFill>
            </a:endParaRPr>
          </a:p>
        </p:txBody>
      </p:sp>
      <p:sp>
        <p:nvSpPr>
          <p:cNvPr id="3" name="Content Placeholder 2"/>
          <p:cNvSpPr>
            <a:spLocks noGrp="1"/>
          </p:cNvSpPr>
          <p:nvPr>
            <p:ph idx="1"/>
          </p:nvPr>
        </p:nvSpPr>
        <p:spPr/>
        <p:txBody>
          <a:bodyPr/>
          <a:lstStyle/>
          <a:p>
            <a:r>
              <a:rPr lang="en-US" dirty="0" smtClean="0"/>
              <a:t>Sludge Generated from Clarifier will be collected in Tank and can further be processes to Sludge dewatering system like Sludge Thickener, Filter Press, Centrifuge, belt filter, volute screw press etc.</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42387783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smtClean="0">
                <a:solidFill>
                  <a:schemeClr val="tx1"/>
                </a:solidFill>
              </a:rPr>
              <a:t>TYPICAL SLUDGE DEWATERING SYSTEM</a:t>
            </a:r>
            <a:endParaRPr lang="en-US" sz="2800" dirty="0">
              <a:solidFill>
                <a:schemeClr val="tx1"/>
              </a:solidFill>
            </a:endParaRPr>
          </a:p>
        </p:txBody>
      </p:sp>
      <p:pic>
        <p:nvPicPr>
          <p:cNvPr id="8194" name="Picture 2" descr="J:\Company Docs\Presentation\CT RECYCLE PLANT PPT\Photos\IMG-20190614-WA0016.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646" y="1181100"/>
            <a:ext cx="4114800" cy="2209800"/>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pic>
        <p:nvPicPr>
          <p:cNvPr id="3" name="Picture 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343400" y="1181100"/>
            <a:ext cx="3867150" cy="2037018"/>
          </a:xfrm>
          <a:prstGeom prst="rect">
            <a:avLst/>
          </a:prstGeom>
          <a:ln>
            <a:noFill/>
          </a:ln>
          <a:effectLst>
            <a:softEdge rad="112500"/>
          </a:effectLst>
        </p:spPr>
      </p:pic>
      <p:pic>
        <p:nvPicPr>
          <p:cNvPr id="4" name="Picture 3"/>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0" y="3505200"/>
            <a:ext cx="4114800" cy="2209800"/>
          </a:xfrm>
          <a:prstGeom prst="rect">
            <a:avLst/>
          </a:prstGeom>
          <a:ln>
            <a:noFill/>
          </a:ln>
          <a:effectLst>
            <a:softEdge rad="112500"/>
          </a:effectLst>
        </p:spPr>
      </p:pic>
      <p:pic>
        <p:nvPicPr>
          <p:cNvPr id="5" name="Picture 4"/>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4575858" y="3086100"/>
            <a:ext cx="4110942" cy="2571750"/>
          </a:xfrm>
          <a:prstGeom prst="rect">
            <a:avLst/>
          </a:prstGeom>
          <a:ln>
            <a:noFill/>
          </a:ln>
          <a:effectLst>
            <a:softEdge rad="112500"/>
          </a:effectLst>
        </p:spPr>
      </p:pic>
      <p:pic>
        <p:nvPicPr>
          <p:cNvPr id="7" name="Picture 3"/>
          <p:cNvPicPr>
            <a:picLocks noChangeAspect="1" noChangeArrowheads="1"/>
          </p:cNvPicPr>
          <p:nvPr/>
        </p:nvPicPr>
        <p:blipFill>
          <a:blip r:embed="rId6"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13937963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dirty="0" smtClean="0">
                <a:solidFill>
                  <a:srgbClr val="0000FF"/>
                </a:solidFill>
              </a:rPr>
              <a:t>WATER QUALITY BEFORE AND AFTER </a:t>
            </a:r>
            <a:br>
              <a:rPr lang="en-US" sz="3200" dirty="0" smtClean="0">
                <a:solidFill>
                  <a:srgbClr val="0000FF"/>
                </a:solidFill>
              </a:rPr>
            </a:br>
            <a:endParaRPr lang="en-US" sz="3200" dirty="0">
              <a:solidFill>
                <a:srgbClr val="0000FF"/>
              </a:solidFill>
            </a:endParaRPr>
          </a:p>
        </p:txBody>
      </p:sp>
      <p:pic>
        <p:nvPicPr>
          <p:cNvPr id="7170" name="Picture 2" descr="J:\Company Docs\Presentation\CT RECYCLE PLANT PPT\Photos\IMG-20190705-WA0009.jpg"/>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2286000" y="1181100"/>
            <a:ext cx="3810000" cy="4267200"/>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3"/>
          <p:cNvPicPr>
            <a:picLocks noChangeAspect="1" noChangeArrowheads="1"/>
          </p:cNvPicPr>
          <p:nvPr/>
        </p:nvPicPr>
        <p:blipFill>
          <a:blip r:embed="rId3"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32540501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990600" y="190500"/>
            <a:ext cx="7696200" cy="703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4000" b="1" dirty="0">
                <a:solidFill>
                  <a:srgbClr val="0000FF"/>
                </a:solidFill>
                <a:effectLst>
                  <a:outerShdw blurRad="38100" dist="38100" dir="2700000" algn="tl">
                    <a:srgbClr val="000000">
                      <a:alpha val="43137"/>
                    </a:srgbClr>
                  </a:outerShdw>
                </a:effectLst>
                <a:latin typeface="+mj-lt"/>
                <a:ea typeface="+mj-ea"/>
                <a:cs typeface="+mj-cs"/>
              </a:rPr>
              <a:t>OUR INSTALLATION</a:t>
            </a:r>
          </a:p>
        </p:txBody>
      </p:sp>
      <p:sp>
        <p:nvSpPr>
          <p:cNvPr id="2" name="TextBox 1"/>
          <p:cNvSpPr txBox="1"/>
          <p:nvPr/>
        </p:nvSpPr>
        <p:spPr>
          <a:xfrm>
            <a:off x="20782" y="5143500"/>
            <a:ext cx="8998129" cy="369332"/>
          </a:xfrm>
          <a:prstGeom prst="rect">
            <a:avLst/>
          </a:prstGeom>
          <a:noFill/>
          <a:ln>
            <a:solidFill>
              <a:schemeClr val="tx1"/>
            </a:solidFill>
            <a:prstDash val="dash"/>
          </a:ln>
        </p:spPr>
        <p:txBody>
          <a:bodyPr wrap="square" rtlCol="0">
            <a:spAutoFit/>
          </a:bodyPr>
          <a:lstStyle/>
          <a:p>
            <a:r>
              <a:rPr lang="en-US" b="1" dirty="0">
                <a:solidFill>
                  <a:srgbClr val="0000FF"/>
                </a:solidFill>
                <a:latin typeface="Aharoni" pitchFamily="2" charset="-79"/>
                <a:cs typeface="Aharoni" pitchFamily="2" charset="-79"/>
              </a:rPr>
              <a:t>AT BHAGYALAXMI STEEL- @ </a:t>
            </a:r>
            <a:r>
              <a:rPr lang="en-US" b="1" dirty="0" smtClean="0">
                <a:solidFill>
                  <a:srgbClr val="0000FF"/>
                </a:solidFill>
                <a:latin typeface="Aharoni" pitchFamily="2" charset="-79"/>
                <a:cs typeface="Aharoni" pitchFamily="2" charset="-79"/>
              </a:rPr>
              <a:t>1500 M3/hr                AT GEETAI STEEL - @  1080 m3/Hr</a:t>
            </a:r>
            <a:endParaRPr lang="en-US" sz="1200" b="1" dirty="0">
              <a:solidFill>
                <a:srgbClr val="0070C0"/>
              </a:solidFill>
              <a:latin typeface="Calibri" pitchFamily="34" charset="0"/>
              <a:cs typeface="Calibri" pitchFamily="34" charset="0"/>
            </a:endParaRPr>
          </a:p>
        </p:txBody>
      </p:sp>
      <p:pic>
        <p:nvPicPr>
          <p:cNvPr id="6" name="Picture 3"/>
          <p:cNvPicPr>
            <a:picLocks noChangeAspect="1" noChangeArrowheads="1"/>
          </p:cNvPicPr>
          <p:nvPr/>
        </p:nvPicPr>
        <p:blipFill>
          <a:blip r:embed="rId2" cstate="print"/>
          <a:srcRect/>
          <a:stretch>
            <a:fillRect/>
          </a:stretch>
        </p:blipFill>
        <p:spPr bwMode="auto">
          <a:xfrm>
            <a:off x="533400" y="114300"/>
            <a:ext cx="889825" cy="838200"/>
          </a:xfrm>
          <a:prstGeom prst="rect">
            <a:avLst/>
          </a:prstGeom>
          <a:noFill/>
          <a:ln w="9525">
            <a:noFill/>
            <a:miter lim="800000"/>
            <a:headEnd/>
            <a:tailEnd/>
          </a:ln>
          <a:effectLst/>
        </p:spPr>
      </p:pic>
      <p:pic>
        <p:nvPicPr>
          <p:cNvPr id="8" name="Picture 7" descr="F:\W.T.PLANT PHOTO\2013-02-02 12.44.13.jpg"/>
          <p:cNvPicPr/>
          <p:nvPr/>
        </p:nvPicPr>
        <p:blipFill>
          <a:blip r:embed="rId3" cstate="print"/>
          <a:srcRect/>
          <a:stretch>
            <a:fillRect/>
          </a:stretch>
        </p:blipFill>
        <p:spPr bwMode="auto">
          <a:xfrm>
            <a:off x="4547616" y="1181100"/>
            <a:ext cx="4495800" cy="3886200"/>
          </a:xfrm>
          <a:prstGeom prst="rect">
            <a:avLst/>
          </a:prstGeom>
          <a:noFill/>
          <a:ln w="9525">
            <a:noFill/>
            <a:miter lim="800000"/>
            <a:headEnd/>
            <a:tailEnd/>
          </a:ln>
        </p:spPr>
      </p:pic>
      <p:pic>
        <p:nvPicPr>
          <p:cNvPr id="9" name="Picture 8" descr="F:\W.T.PLANT PHOTO\28022008133.jpg"/>
          <p:cNvPicPr/>
          <p:nvPr/>
        </p:nvPicPr>
        <p:blipFill>
          <a:blip r:embed="rId4" cstate="print"/>
          <a:srcRect/>
          <a:stretch>
            <a:fillRect/>
          </a:stretch>
        </p:blipFill>
        <p:spPr bwMode="auto">
          <a:xfrm>
            <a:off x="0" y="1168908"/>
            <a:ext cx="4495800" cy="3898392"/>
          </a:xfrm>
          <a:prstGeom prst="rect">
            <a:avLst/>
          </a:prstGeom>
          <a:noFill/>
          <a:ln w="9525">
            <a:noFill/>
            <a:miter lim="800000"/>
            <a:headEnd/>
            <a:tailEnd/>
          </a:ln>
        </p:spPr>
      </p:pic>
    </p:spTree>
    <p:extLst>
      <p:ext uri="{BB962C8B-B14F-4D97-AF65-F5344CB8AC3E}">
        <p14:creationId xmlns:p14="http://schemas.microsoft.com/office/powerpoint/2010/main" xmlns="" val="75614696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38200" y="0"/>
            <a:ext cx="7772400" cy="1225021"/>
          </a:xfrm>
        </p:spPr>
        <p:txBody>
          <a:bodyPr/>
          <a:lstStyle/>
          <a:p>
            <a:pPr algn="ctr"/>
            <a:r>
              <a:rPr lang="en-US" dirty="0" smtClean="0"/>
              <a:t>SHREE SAI WATER SERVICES</a:t>
            </a:r>
            <a:endParaRPr lang="en-US" b="1" dirty="0">
              <a:solidFill>
                <a:schemeClr val="accent5">
                  <a:lumMod val="75000"/>
                </a:schemeClr>
              </a:solidFill>
              <a:effectLst>
                <a:outerShdw blurRad="38100" dist="38100" dir="2700000" algn="tl">
                  <a:srgbClr val="000000">
                    <a:alpha val="43137"/>
                  </a:srgbClr>
                </a:outerShdw>
              </a:effectLst>
            </a:endParaRPr>
          </a:p>
        </p:txBody>
      </p:sp>
      <p:pic>
        <p:nvPicPr>
          <p:cNvPr id="2050" name="Picture 2" descr="C:\Users\prajakta.WTE\Desktop\thank-you-from-christian-vision-alliance.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88882" y="1181101"/>
            <a:ext cx="6683518" cy="3200400"/>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3"/>
          <p:cNvPicPr>
            <a:picLocks noChangeAspect="1" noChangeArrowheads="1"/>
          </p:cNvPicPr>
          <p:nvPr/>
        </p:nvPicPr>
        <p:blipFill>
          <a:blip r:embed="rId3" cstate="print"/>
          <a:srcRect/>
          <a:stretch>
            <a:fillRect/>
          </a:stretch>
        </p:blipFill>
        <p:spPr bwMode="auto">
          <a:xfrm>
            <a:off x="533400" y="114300"/>
            <a:ext cx="889825" cy="838200"/>
          </a:xfrm>
          <a:prstGeom prst="rect">
            <a:avLst/>
          </a:prstGeom>
          <a:noFill/>
          <a:ln w="9525">
            <a:noFill/>
            <a:miter lim="800000"/>
            <a:headEnd/>
            <a:tailEnd/>
          </a:ln>
          <a:effectLst/>
        </p:spPr>
      </p:pic>
    </p:spTree>
    <p:extLst>
      <p:ext uri="{BB962C8B-B14F-4D97-AF65-F5344CB8AC3E}">
        <p14:creationId xmlns:p14="http://schemas.microsoft.com/office/powerpoint/2010/main" xmlns="" val="18551406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5312</TotalTime>
  <Words>773</Words>
  <Application>Microsoft Office PowerPoint</Application>
  <PresentationFormat>On-screen Show (16:10)</PresentationFormat>
  <Paragraphs>62</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Slide 1</vt:lpstr>
      <vt:lpstr>PRESENTATION ON</vt:lpstr>
      <vt:lpstr>Slide 3</vt:lpstr>
      <vt:lpstr>WATER USES IN STEEL INDUSTRY</vt:lpstr>
      <vt:lpstr>PROBLEM FACED BY MILL BEFORE INSTALLING TREATMENT PLANT</vt:lpstr>
      <vt:lpstr>ADVANTAGES AFTER INSTALLING TREATMENT PLANT</vt:lpstr>
      <vt:lpstr>WATER RECIRCULATION PLANT</vt:lpstr>
      <vt:lpstr> PROCESS UNITS IN TREATMENT PLANT</vt:lpstr>
      <vt:lpstr>TYPICAL PROCESS FLOW DIAGRAM FOR RECIRCULATION PLANT </vt:lpstr>
      <vt:lpstr>CLARIFIER</vt:lpstr>
      <vt:lpstr>Working Principle</vt:lpstr>
      <vt:lpstr>FILTRATION</vt:lpstr>
      <vt:lpstr>Working Principle</vt:lpstr>
      <vt:lpstr>       PRESSURE SAND FILTER</vt:lpstr>
      <vt:lpstr>SLUDGE MANAGEMENT</vt:lpstr>
      <vt:lpstr>TYPICAL SLUDGE DEWATERING SYSTEM</vt:lpstr>
      <vt:lpstr>WATER QUALITY BEFORE AND AFTER  </vt:lpstr>
      <vt:lpstr>Slide 18</vt:lpstr>
      <vt:lpstr>SHREE SAI WATER SERVICES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378</cp:revision>
  <dcterms:created xsi:type="dcterms:W3CDTF">2018-10-06T06:52:07Z</dcterms:created>
  <dcterms:modified xsi:type="dcterms:W3CDTF">2021-10-02T11:08:30Z</dcterms:modified>
</cp:coreProperties>
</file>